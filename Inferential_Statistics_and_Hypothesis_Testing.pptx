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new-01.jpeg"/><Relationship Id="rId2"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image" Target="../media/image-new-02.jpeg"/><Relationship Id="rId2"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image" Target="../media/image-new-03.jpeg"/><Relationship Id="rId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image" Target="../media/image-new-04.jpeg"/><Relationship Id="rId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image" Target="../media/image-new-05.jpeg"/><Relationship Id="rId2"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image" Target="../media/image-new-06.jpeg"/><Relationship Id="rId2"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image" Target="../media/image-new-07.jpeg"/><Relationship Id="rId2"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image" Target="../media/image-new-08.jpeg"/><Relationship Id="rId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image" Target="../media/image-new-09.jpeg"/><Relationship Id="rId2"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image" Target="../media/image-new-10.jpeg"/><Relationship Id="rId2"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image" Target="../media/image-new-11.jpeg"/><Relationship Id="rId2"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image" Target="../media/image-new-12.jpeg"/><Relationship Id="rId2"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image" Target="../media/image-new-13.jpeg"/><Relationship Id="rId2"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image" Target="../media/image-new-14.jpe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Exam practice · the main ideas. End-term exam practice. Inferential statistics and hypothesis testing, ideas from the midterm, and variables and charts. Read the slides of one part. Then follow the steps on the slide &quot;Do this in the practice guide&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Start here One survey, two questions Test Someone has stated a value, called the claim. Is the survey consistent with the claim? Estimate Nobody has stated a value. What does the survey alone tell you about the population? You answer both questions from the survey result and its standard error (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Start here. Use these slides with the practice guide. Open the practice guide &quot;End-term exam practice&quot;. Its tabs are at the top of the page. Read the slides of one part. They give the main ideas. At the end of each part, follow the steps on the slide &quot;Do this in the practice guide&quot;. Answer the practice questions of that part. The exam questions are taken from them, with different numbers. Buttons in the guide: Check marks your entries. Show the working gives the solution. ? explains one answer. New numbers gives the same question with different numbers. In parts 6 and 7, Detailed explanation gives the full reason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Part 1 Concepts Why the mean of one sample tells you about the whole population. In the practice guide: tab &quot;1 Concepts&quot;, questions 1 to 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Part 1 · Concepts Population and sample All the circles: the population. The dark circles: the sample. Population The whole group you want to know about. Its size is N and its mean is μ. You do not know μ. Sample The n people you ask. The survey mean is the mean of the sample. You know it exactly. The survey mean is your estimate of 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Part 1 · Concepts Why the estimate is uncertain People differ The people in the population have different values. The sample is only a part A different sample of the same size would give a different mean. There would be no uncertainty in two cases: Every person has the same value. You survey the whole populat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Part 1 · Concepts A café with 8 customers A $5 B $3 C $9 D $3 E $5 F $7 G $3 H $5 Individual values One data point is the spend of one customer. Mean μ = $5. Standard deviation σ = $2. Sample means One data point is the mean of one sample. Sample of customers C and D: (9 + 3) / 2 = $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Part 1 · Concepts Sample size and number of samples n = 2 Sample size. The number of customers in one sample. 12 Number of samples. How many times a sample was taken. Only n is used in the formulas. In a real survey you take one sample. The other samples are imagined, to ask how different your survey mean could have bee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Part 1 · Concepts Every possible sample of the 8 customers Sample size n Possible samples Mean of all sample means SD of all sample means σ / √n 1 8 $5.00 $2.00 2 / √1 = $2.00 2 64 $5.00 $1.41 2 / √2 = $1.41 4 4,096 $5.00 $1.00 2 / √4 = $1.00 Center. The mean of all sample means is exactly μ. Spread. Their standard deviation is σ / √n. Its name is the standard error (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Part 1 · Concepts Individual values and sample means Individual values Sample means One data point is the value of one person the mean of one sample of n people Center μ μ Spread σ, the standard deviation (SD) σ / √n, the standard error (SE) Shape any shape, often skewed approximately normal Compare one person with the SD. Compare a sample mean with the 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Part 1 · Concepts Two results about larger samples Law of large numbers The mean of a larger sample tends to be closer to the population mean μ. A mean from 400 people is usually closer to μ than a mean from 25 people. Central limit theorem When the sample is large enough, sample means are approximately normally distributed. This is true even when the population is skew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Part 1 · Concepts The empirical rule for sample means Example: μ = $30 and SE = $1. About 68% of sample means are within 1 SE of μ: $29 to $31. About 95% are within 2 SE: $28 to $32. About 99.7% are within 3 SE: $27 to $33. about 99.7% about 95% about 68% $27 −3 SE $28 −2 SE $29 −1 SE $30 μ $31 +1 SE $32 +2 SE $33 +3 SE The 95% rule is the one used in tests and interval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Part 1 · Concepts A proportion is a mean Ten people answer a yes or no question. Write 1 for yes and 0 for no. 1 0 0 1 0 0 0 0 0 0 The mean is the proportion p p = 2 / 10 = 0.20 The standard deviation √( p × (1 − p) ) = √( 0.20 × 0.80 ) = 0.40 Write decimals Write 20% as 0.2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Do this in the practice guide Open the tab &quot;1 Concepts&quot; In the café example, press &quot;Take 12 new samples&quot; several times. In the chart &quot;The two distributions&quot;, the 12 sample means change each time. Under &quot;The mean of the sample means is μ&quot;, read the table of the 64 possible samples. Check that 320 / 64 = $5. In the simulation of 1,000 samples, choose n = 1, 25, 100 and 400. Compare the counts with 680, 950 and 997. Answer questions 1 to 8. Press &quot;Check&quot;, and then &quot;?&quot; beside an answer. What to notice. With larger samples, the sample means are closer to μ and their shape is closer to norma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Part 2 Standard error How far the mean of a sample usually is from μ. In the practice guide: tab &quot;2 Standard error&quot;, questions 9 to 1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Part 2 · Standard error Two formulas for the standard error A mean s is the standard deviation in your survey. n is the sample size. SE = s / √n A proportion p is the proportion, written as a decimal. n is the sample size. SE = √( p × (1 − p) / n ) More difference among people gives a larger SE. A larger sample gives a smaller 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Part 2 · Standard error Four times the sample, half the standard error Survey of 100 customers, s = $10 SE = $1 10 / √100 = 10 / 10 Survey of 400 customers, s = $10 SE = $0.50 10 / √400 = 10 / 20 A proportion: 20 of 100 are members SE = 0.04 √( 0.20 × 0.80 / 100 ) A small SE means that the survey result is a precise estima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Part 2 · Standard error Is $33 unusual? The population mean is $30 and the SD is $10. For a sample of 100 customers, SE = $1. One customer spends $33 A sample of 100 customers has a mean of $33 Compare with SD = $10 SE = $1 Distance from $30 3 / 10 = 0.3 SD 3 / 1 = 3 SE More than 2? no yes Conclusion Not unusual Unusual: fewer than 5% of sample means are more than 2 SE from 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Do this in the practice guide Open the tab &quot;2 Standard error&quot; Read the three worked examples. In the third example, look at the chart. $33 is inside the range for one customer and outside the range for a sample mean. Answer questions 9 to 13. Press &quot;New numbers&quot; in a question and answer it again. Repeat until you do not need &quot;Show the working&quot;. What to notice. Compare one person with the SD. Compare a sample mean with the S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Part 3 A mean: test and estimate Test a claim about a mean, calculate the 95% interval, and connect the two. In the practice guide: tab &quot;3 A mean&quot;, questions 14 to 20">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descr="Part 3 · A mean Test: is the survey consistent with the claim? Assume that the claim is right. Calculate the range claim ± 2 SE. It contains 95% of sample means. Survey mean inside the range: consistent with the claim. Survey mean outside the range: not consistent with the claim. survey mean $33 outside the range 95% of samples $28 claim $30 $32 2 SE = $2 2 SE = $2 Bookstore: the claim is $30. A survey of 100 customers has a mean of $33 and an SD of $10, so SE = $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descr="Part 3 · A mean Estimate: what does the survey alone tell you? Set the claim aside. The 95% interval survey mean ± 2 SE 33 ± 2 × 1 = $31 to $35 claim $30 outside the interval $31 survey $33 $35 2 SE = $2 2 SE = $2 With about 95% confidence, the average spend per visit of all customers is between $31 and $3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descr="Part 3 · A mean Connect: the two answers always agree Test: the survey mean, $33, is outside the range $28 to $32 $28 claim $30 $32 $33 Estimate: the claim, $30, is outside the interval $31 to $35 $30 $31 survey $33 $35 Compare: the distance is more than 2 SE distance $3 = 3 SE 2 SE = $2 The claim is inside the interval exactly when the survey mean is inside the range. Both answers compare the same distance with the same 2 SE. The open circle is the claim. The filled circle is the survey mea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lide 24" descr="Part 3 · A mean Consistent does not mean proved A second store: survey mean $31.50 The claim is $30 and SE = $1. Distance: $1.50, which is 1.5 SE. Range $28 to $32: the survey mean is inside it. Interval $29.50 to $33.50: the claim is inside it. Decision: the survey is consistent with the claim. A claim of $31 or of $33 would also be consistent with this survey. Both values are inside the interval. The survey gives no reason to reject the claim of $30. It does not prove that the claim is righ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lide 25" descr="Do this in the practice guide Open the tab &quot;3 A mean&quot; Read the two worked examples. In each, find the three charts: Test, Estimate and Connect. Under &quot;Questions 14 to 20&quot;, read the situation in the shaded box. Answer questions 14 to 20 in order. Press &quot;Show the working&quot; in questions 16, 18 and 20. The charts are drawn for your numbers. Press &quot;New numbers&quot; in the shaded box and answer the questions again. This also changes the numbers in parts 4 and 5. What to notice. The test and the interval always agre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lide 26" descr="Part 4 A proportion: test and estimate The same steps as for a mean. Only the standard error is different. In the practice guide: tab &quot;4 A proportion&quot;, questions 21 to 2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lide 27" descr="Part 4 · A proportion Which p goes into the standard error? Test: the claimed p You assume that the claim is right, so the SE uses the claimed proportion. Estimate: the survey p There is no claim to assume, so the SE uses the survey proportion. Round this SE to two decimals. The steps are the same as for a mean: claim ± 2 SE for the test, and survey proportion ± 2 SE for the estima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lide 28" descr="Part 4 · A proportion Example: 62 of 100 customers bought a coffee Claim: 50% of customers buy a coffee. Survey proportion = 62 / 100 = 0.62. Test SE = √( 0.50 × 0.50 / 100 ) = 0.05 Range: 0.50 ± 2 × 0.05 = 0.40 to 0.60 Distance: 0.12, which is 2.4 SE 0.62 is outside the range. The survey is not consistent with the claim. Estimate SE = √( 0.62 × 0.38 / 100 ) = 0.0485, which is 0.05 to two decimals Interval: 0.62 ± 2 × 0.05 = 0.52 to 0.72 The claim, 0.50, is outside the interva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lide 29" descr="Do this in the practice guide Open the tab &quot;4 A proportion&quot; Read the worked example about coffee. Find where the test uses 0.50 in the standard error, and where the estimate uses 0.62. Answer questions 21 to 23. They use the same situation as part 3. Press &quot;Show the working&quot; in question 23, and read the row &quot;Compare&quot; in the chart. What to notice. Write proportions as decimals: 0.62, and not 62%. The guide marks a percentage as wro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lide 30" descr="Part 5 Comparing surveys and stating conclusions Different survey means, the same mean with different sample sizes, and how to state a conclusion correctly. In the practice guide: tab &quot;5 Comparing surveys&quot;, questions 24 to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lide 31" descr="Part 5 · Comparing surveys Two surveys above the claim, two decisions second store $31.50 1.5 SE, inside first store $33 3 SE, outside 95% of samples $28 claim $30 $32 2 SE = $2 2 SE = $2 Both stores found a mean above $30. Only the first store is more than 2 SE from the claim. Above or below the claim does not matter. The decision depends on the distance in standard erro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Slide 32" descr="Part 5 · Comparing surveys The same survey mean, three sample sizes The claim is $30. Three stores each find a survey mean of $31.50 and an SD of $10. 25 customers 100 customers 400 customers SE = s / √n $2 $1 $0.50 Distance of $1.50, in SE 0.75 SE 1.5 SE 3 SE Range: claim ± 2 SE $26 to $34 $28 to $32 $29 to $31 $31.50 is inside inside outside The survey is consistent consistent not consistent A larger sample has a smaller SE, so the same $1.50 is more standard erro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lide 33" descr="Part 5 · Your own words State your conclusions carefully Do not write Write There is less than a 5% chance that the claim is right. If the claim were right, fewer than 5% of samples would be this far away. The survey proves that the claim is right. The survey is consistent with the claim. It gives no reason to reject it. About 95% of customers spend between $31 and $35. With about 95% confidence, the population mean is between $31 and $35. The 95% interval is the list of all the claims that the survey is consistent with.">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lide 34" descr="Do this in the practice guide Open the tab &quot;5 Comparing surveys&quot; Read the worked example with two stores: survey means of $33 and $31.50. In the worked example with three sample sizes, choose n = 25, 100 and 400. Press &quot;Take 1,000 new samples&quot; and read the count under the chart. Answer questions 24 to 28. Questions 24 to 26 use a second survey in the same situation as part 3. What to notice. The same survey mean can be consistent with the claim for a small sample, and not consistent with it for a large sampl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lide 35" descr="Optional · not on the exam The exact percentage What statistics software reports in place of &quot;fewer than 5%&quot;. On the exam you use 2 standard errors, and you write &quot;fewer than 5%&quot; or &quot;more than 5%&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Slide 36" descr="Not on the exam Two ways to test a claim Start from the survey Calculate the 95% interval: survey mean ± 2 SE. Is the claimed μ inside the interval? Outside the interval: reject the claim. Start from the claim Assume that the claim is right. How many SE is the survey mean from the claimed μ? How often would a sample mean be that far away, or farther? Fewer than 5% of samples: reject the claim. Both ways give the same decision. The second way also gives an exact percentag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Slide 37" descr="Not on the exam The exact percentage, and the decision Claim $30, SE $1 First store, $33 Second store, $31.50 Third store, $32.17 Distance from the claim 3 SE 1.5 SE 2.17 SE Samples that far away, or farther 0.27% 13.4% 3.0% Less than 5%? yes: reject the claim no: keep the claim yes: reject the claim Third store: if the claim is right, only 3% of all possible samples are this far from $30. 3% is less than 5%, so the claim is rejected with 97% confidence. The 3% is not the chance that the claim is righ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Slide 38" descr="Do this in the practice guide · optional Open the tab &quot;Not on the exam&quot; Under &quot;The same thinking in your own decisions&quot;, each heading is a question. Think about your own answer, and then open it. Under &quot;Technical discussion&quot;, open &quot;How often would a sample mean be this far from the claim?&quot; Choose each of the three stores, and read the percentage under the chart. What to notice. This tab is optional reading. Nothing in it is on the exa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Slide 39" descr="Summary Steps and formulas 1. Standard error Mean: s / √n. Proportion: √( p × (1 − p) / n ), with the claimed p in a test and the survey p in an estimate. 2. Test Assume that the claim is right. The range claim ± 2 SE contains 95% of survey results. 3. Decision Survey result inside the range: consistent with the claim. Outside the range: not consistent with the claim. 4. Estimate Survey result ± 2 SE is the 95% interval. 5. Connect The claim is inside the interval exactly when the survey result is inside the rang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lide 35" descr="Part 6 Midterm ideas The roles of variables, and two ways data can mislead a decision: Simpson's paradox and survivorship bias. In the practice guide: tab &quot;6 Midterm ideas&quot;, questions 29 to 3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Slide 36" descr="Part 6 Roles of variables. What are the five roles a variable can play? Activity (input): the work the organisation does, the lever it can pull; example running mock-interview workshops. Context: shapes the result but cannot be changed within the plan's period; example regional unemployment. Mechanism: what has to happen, often inside a person, between the activity and the result; example participants gain interview confidence. Signal: watched instead of the outcome, which arrives too late to steer by; example the share of participants who finish. Outcome (output): what the organisation exists to produce, wanted for its own sake; example a better job a year later. Act on activities. Watch signals. Work around context. Check the mechanism. Judge by the outco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Slide 37" descr="Part 6 Roles of variables. Signal or outcome? Is a role fixed? How do you tell a signal from an outcome? Ask: would I still want this if it led to nothing else? Yes: an outcome. No: a signal. A signal can be pushed up while the outcome does not improve. A completion rate rises if the course is made easier. Watch a signal, but do not make it a target on its own. Is the role of a variable fixed? No. The role depends on the decision and on who makes it. Regional employment is context for a training programme, which cannot change it. It is the outcome for a regional government, which is judged on i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Slide 38" descr="Part 6 Simpson's paradox. What is Simpson's paradox, and why? What is it? A comparison between groups reverses when the data are split by a third variable. Team A resolves more tickets on time overall. Team B is better on simple tickets and better on complex tickets, but it handles most of the complex ones. Why does it happen? An overall rate blends the subgroup rates, weighted by each group's mix of cases. When the third variable strongly affects the outcome and the groups have different mixes, the overall rate measures the mix, not the group. In a decision: before ranking or rewarding on an overall rate, compare like with like, within each level of the third variabl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Slide 39" descr="Part 6 Survivorship bias. What is survivorship bias? What is it? A conclusion drawn only from the cases that made it through a process, when the missing cases differ from those that remain. Studying only successful companies makes their habits look like causes of success. Failed companies with the same habits are not in the data. When does removing cases bias a conclusion? When which cases were removed depends on the thing being measured. A portal that closes the easy contacts biases a comparison of tickets. Closing contacts at random would only make the data smaller. In a decision: ask what a case had to go through to be in the data, and who is missing. Find the missing cases, or limit the conclusion to the survivo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Slide 40" descr="Part 6 Decisions and advice. Three questions to ask before advising. Roles of variables: what job does this variable do, and for whose decision? Then act on activities, watch signals, work around context, judge by the outcome. Simpson's paradox: is there a third variable that decides who is in each group and also affects the outcome? Then compare within each level of it before ranking, rewarding or choosing. Survivorship bias: what did a case go through to get into this data, and who is missing? Then find the missing cases, or limit the conclusion to the survivo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Slide 41" descr="Do this in the practice guide. Open the tab &quot;6 Midterm ideas&quot;. Read questions 29 to 38. Write your own answer on paper before you read the exam answer. Compare your answer with the exam answer. An answer of that length and content is a full answer. Press &quot;Detailed explanation&quot; for the reasoning, more examples, and how each idea changes a decision. What to notice: none of these questions needs a calculation. Marks go to a clear definition, an example, and what the idea means for the decis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Slide 42" descr="Part 7 Variables and charts. The type of each variable decides the summary, and the business question decides the chart. In the practice guide: tab &quot;7 Variables and charts&quot;, questions 39 to 4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Slide 43" descr="Part 7 Variables. What kinds of variable are there? Numeric, continuous: any value within a range; example age 18, 19.25, 41.5. Numeric, discrete: countable values with gaps between them; example number of courses 4, 5, 7. Categorical, nominal: groups with no natural order; example ethnicity, major. Categorical, ordinal: groups with an order but unequal gaps; example skill level low, medium, high. A variable is a characteristic that can be measured and takes different values. Does the average mean something? Yes: numeric. No: categorica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Slide 44" descr="Part 7 Types of analysis. Univariate, bivariate and multivariate. Univariate, one numeric: mean, median, mode, SD; histogram, box plot. Univariate, one categorical: counts or percentages; bar plot. Bivariate, numeric and numeric: correlation; scatter plot. Bivariate, numeric and categorical: mean per category (pivot table); bar plot of means, box plot per group. Bivariate, categorical and categorical: counts in a cross table; cross table, grouped bar plot. Multivariate, more than two: a summary for each level of the third; add color, shape or size. Trend over time: a line chart, with time on the x-axi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Slide 45" descr="Part 7 Charts. What do a histogram and a box plot show? Histogram: bars count the observations in each range (bin); it shows the shape. Normal: symmetric, mean about equal to median. Right skew: long tail to the right, mean above median, for example income. Left skew: long tail to the left, mean below median. Box plot: box from Q1 (25th percentile) to Q3 (75th percentile). Line in the box: the median (50th percentile). IQR = Q3 - Q1, the middle half of the data. Outlier: below Q1 - 1.5 x IQR or above Q3 + 1.5 x IQ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Slide 46" descr="Part 7 Charts. Which chart for which business question? What is the distribution of tuition? Histogram or box plot of tuition. How many universities are public, and how many private? Bar plot, height = count of each type. Is tuition spread the same way at public and private? Histogram colored by type, or a box plot per type. Is average tuition higher at private universities? Bar plot, height = average tuition per type. How is #PhD_Faculty related to tuition? Scatter plot, x = #PhD_Faculty, y = tuition. Is that relationship the same for both types? Scatter plot, color = Public_or_Private. Method: count the variables in the question, and name the type of each. That decides the char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Slide 47" descr="Part 7 Charts. Why look at the chart first? Why not only a correlation or a mean? One number can hide the shape of the data. A correlation near zero fits no relationship, and also a pattern that rises and then falls. A mean hides skew and outliers. How do you read a scatter plot? Direction: up is positive, down is negative, flat is none. Form: straight or curved. Strength: how tightly the dots follow the pattern. Unusual points far from the rest. Draw first, then summarise. A relationship in a chart does not prove that one variable causes the oth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Slide 48" descr="Do this in the practice guide. Open the tab &quot;7 Variables and charts&quot;. In questions 39 to 41, classify each variable: numeric or categorical first, then its subtype. Answer questions 42 to 48 on paper, and compare with the exam answers. In question 47, cover the chart column and name the chart for each business question. What to notice: name the type of each variable first. The types decide the summary, and the business question decides the char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Inferential Statistics and Hypothesis Testing</dc:title>
  <dc:subject/>
  <dc:creator/>
  <cp:lastModifiedBy/>
  <cp:revision>1</cp:revision>
  <dcterms:created xsi:type="dcterms:W3CDTF">2026-10-11T05:41:44Z</dcterms:created>
  <dcterms:modified xsi:type="dcterms:W3CDTF">2026-10-11T05:41:44Z</dcterms:modified>
</cp:coreProperties>
</file>