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e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e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Exam practice · the main ideas Inferential statistics and hypothesis testing Test a claim, and estimate a population value, from one survey. Read the slides of one part. Then follow the steps on the slide &quot;Do this in the practice guide&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Start here One survey, two questions Test Someone has stated a value, called the claim. Is the survey consistent with the claim? Estimate Nobody has stated a value. What does the survey alone tell you about the population? You answer both questions from the survey result and its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Start here Use these slides with the practice guide Open the practice guide &quot;Inferential statistics and hypothesis testing&quot;. Its tabs are at the top of the page. Read the slides of one part. They give the main ideas. At the end of each part, follow the steps on the slide &quot;Do this in the practice guide&quot;. Answer the practice questions of that part. The exam questions are taken from them, with different numbers. Buttons in the guide: Check marks your entries. Show the working gives the solution. ? explains one answer. New numbers gives the same question with different numbe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Part 1 Concepts Why the mean of one sample tells you about the whole population. In the practice guide: tab &quot;1 Concepts&quot;, questions 1 to 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Part 1 · Concepts Population and sample All the circles: the population. The dark circles: the sample. Population The whole group you want to know about. Its size is N and its mean is μ. You do not know μ. Sample The n people you ask. The survey mean is the mean of the sample. You know it exactly. The survey mean is your estimate of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Part 1 · Concepts Why the estimate is uncertain People differ The people in the population have different values. The sample is only a part A different sample of the same size would give a different mean. There would be no uncertainty in two cases: Every person has the same value. You survey the whole populatio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Part 1 · Concepts A café with 8 customers A $5 B $3 C $9 D $3 E $5 F $7 G $3 H $5 Individual values One data point is the spend of one customer. Mean μ = $5. Standard deviation σ = $2. Sample means One data point is the mean of one sample. Sample of customers C and D: (9 + 3) / 2 = $6.">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Part 1 · Concepts Sample size and number of samples n = 2 Sample size. The number of customers in one sample. 12 Number of samples. How many times a sample was taken. Only n is used in the formulas. In a real survey you take one sample. The other samples are imagined, to ask how different your survey mean could have bee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Part 1 · Concepts Every possible sample of the 8 customers Sample size n Possible samples Mean of all sample means SD of all sample means σ / √n 1 8 $5.00 $2.00 2 / √1 = $2.00 2 64 $5.00 $1.41 2 / √2 = $1.41 4 4,096 $5.00 $1.00 2 / √4 = $1.00 Center. The mean of all sample means is exactly μ. Spread. Their standard deviation is σ / √n. Its name is the standard erro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Part 1 · Concepts Individual values and sample means Individual values Sample means One data point is the value of one person the mean of one sample of n people Center μ μ Spread σ, the standard deviation (SD) σ / √n, the standard error (SE) Shape any shape, often skewed approximately normal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Part 1 · Concepts Two results about larger samples Law of large numbers The mean of a larger sample tends to be closer to the population mean μ. A mean from 400 people is usually closer to μ than a mean from 25 people. Central limit theorem When the sample is large enough, sample means are approximately normally distributed. This is true even when the population is skew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Part 1 · Concepts The empirical rule for sample means Example: μ = $30 and SE = $1. About 68% of sample means are within 1 SE of μ: $29 to $31. About 95% are within 2 SE: $28 to $32. About 99.7% are within 3 SE: $27 to $33. about 99.7% about 95% about 68% $27 −3 SE $28 −2 SE $29 −1 SE $30 μ $31 +1 SE $32 +2 SE $33 +3 SE The 95% rule is the one used in tests and interval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Part 1 · Concepts A proportion is a mean Ten people answer a yes or no question. Write 1 for yes and 0 for no. 1 0 0 1 0 0 0 0 0 0 The mean is the proportion p p = 2 / 10 = 0.20 The standard deviation √( p × (1 − p) ) = √( 0.20 × 0.80 ) = 0.40 Write decimals Write 20% as 0.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Slide 14" descr="Do this in the practice guide Open the tab &quot;1 Concepts&quot; In the café example, press &quot;Take 12 new samples&quot; several times. In the chart &quot;The two distributions&quot;, the 12 sample means change each time. Under &quot;The mean of the sample means is μ&quot;, read the table of the 64 possible samples. Check that 320 / 64 = $5. In the simulation of 1,000 samples, choose n = 1, 25, 100 and 400. Compare the counts with 680, 950 and 997. Answer questions 1 to 8. Press &quot;Check&quot;, and then &quot;?&quot; beside an answer. What to notice. With larger samples, the sample means are closer to μ and their shape is closer to norm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Slide 15" descr="Part 2 Standard error How far the mean of a sample usually is from μ. In the practice guide: tab &quot;2 Standard error&quot;, questions 9 to 1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lide 16" descr="Part 2 · Standard error Two formulas for the standard error A mean s is the standard deviation in your survey. n is the sample size. SE = s / √n A proportion p is the proportion, written as a decimal. n is the sample size. SE = √( p × (1 − p) / n ) More difference among people gives a larger SE. A larger sample gives a smaller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Slide 17" descr="Part 2 · Standard error Four times the sample, half the standard error Survey of 100 customers, s = $10 SE = $1 10 / √100 = 10 / 10 Survey of 400 customers, s = $10 SE = $0.50 10 / √400 = 10 / 20 A proportion: 20 of 100 are members SE = 0.04 √( 0.20 × 0.80 / 100 ) A small SE means that the survey result is a precis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Slide 18" descr="Part 2 · Standard error Is $33 unusual? The population mean is $30 and the SD is $10. For a sample of 100 customers, SE = $1. One customer spends $33 A sample of 100 customers has a mean of $33 Compare with SD = $10 SE = $1 Distance from $30 3 / 10 = 0.3 SD 3 / 1 = 3 SE More than 2? no yes Conclusion Not unusual Unusual: fewer than 5% of sample means are more than 2 SE from μ">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Slide 19" descr="Do this in the practice guide Open the tab &quot;2 Standard error&quot; Read the three worked examples. In the third example, look at the chart. $33 is inside the range for one customer and outside the range for a sample mean. Answer questions 9 to 13. Press &quot;New numbers&quot; in a question and answer it again. Repeat until you do not need &quot;Show the working&quot;. What to notice. Compare one person with the SD. Compare a sample mean with the 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Slide 20" descr="Part 3 A mean: test and estimate Test a claim about a mean, calculate the 95% interval, and connect the two. In the practice guide: tab &quot;3 A mean&quot;, questions 14 to 20">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Slide 21" descr="Part 3 · A mean Test: is the survey consistent with the claim? Assume that the claim is right. Calculate the range claim ± 2 SE. It contains 95% of sample means. Survey mean inside the range: consistent with the claim. Survey mean outside the range: not consistent with the claim. survey mean $33 outside the range 95% of samples $28 claim $30 $32 2 SE = $2 2 SE = $2 Bookstore: the claim is $30. A survey of 100 customers has a mean of $33 and an SD of $10, so SE = $1.">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Slide 22" descr="Part 3 · A mean Estimate: what does the survey alone tell you? Set the claim aside. The 95% interval survey mean ± 2 SE 33 ± 2 × 1 = $31 to $35 claim $30 outside the interval $31 survey $33 $35 2 SE = $2 2 SE = $2 With about 95% confidence, the average spend per visit of all customers is between $31 and $35.">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Slide 23" descr="Part 3 · A mean Connect: the two answers always agree Test: the survey mean, $33, is outside the range $28 to $32 $28 claim $30 $32 $33 Estimate: the claim, $30, is outside the interval $31 to $35 $30 $31 survey $33 $35 Compare: the distance is more than 2 SE distance $3 = 3 SE 2 SE = $2 The claim is inside the interval exactly when the survey mean is inside the range. Both answers compare the same distance with the same 2 SE. The open circle is the claim. The filled circle is the survey mean.">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Slide 24" descr="Part 3 · A mean Consistent does not mean proved A second store: survey mean $31.50 The claim is $30 and SE = $1. Distance: $1.50, which is 1.5 SE. Range $28 to $32: the survey mean is inside it. Interval $29.50 to $33.50: the claim is inside it. Decision: the survey is consistent with the claim. A claim of $31 or of $33 would also be consistent with this survey. Both values are inside the interval. The survey gives no reason to reject the claim of $30. It does not prov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Slide 25" descr="Do this in the practice guide Open the tab &quot;3 A mean&quot; Read the two worked examples. In each, find the three charts: Test, Estimate and Connect. Under &quot;Questions 14 to 20&quot;, read the situation in the shaded box. Answer questions 14 to 20 in order. Press &quot;Show the working&quot; in questions 16, 18 and 20. The charts are drawn for your numbers. Press &quot;New numbers&quot; in the shaded box and answer the questions again. This also changes the numbers in parts 4 and 5. What to notice. The test and the interval always agre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Slide 26" descr="Part 4 A proportion: test and estimate The same steps as for a mean. Only the standard error is different. In the practice guide: tab &quot;4 A proportion&quot;, questions 21 to 23">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lide 27" descr="Part 4 · A proportion Which p goes into the standard error? Test: the claimed p You assume that the claim is right, so the SE uses the claimed proportion. Estimate: the survey p There is no claim to assume, so the SE uses the survey proportion. Round this SE to two decimals. The steps are the same as for a mean: claim ± 2 SE for the test, and survey proportion ± 2 SE for the estimat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Slide 28" descr="Part 4 · A proportion Example: 62 of 100 customers bought a coffee Claim: 50% of customers buy a coffee. Survey proportion = 62 / 100 = 0.62. Test SE = √( 0.50 × 0.50 / 100 ) = 0.05 Range: 0.50 ± 2 × 0.05 = 0.40 to 0.60 Distance: 0.12, which is 2.4 SE 0.62 is outside the range. The survey is not consistent with the claim. Estimate SE = √( 0.62 × 0.38 / 100 ) = 0.0485, which is 0.05 to two decimals Interval: 0.62 ± 2 × 0.05 = 0.52 to 0.72 The claim, 0.50, is outside the interval.">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lide 29" descr="Do this in the practice guide Open the tab &quot;4 A proportion&quot; Read the worked example about coffee. Find where the test uses 0.50 in the standard error, and where the estimate uses 0.62. Answer questions 21 to 23. They use the same situation as part 3. Press &quot;Show the working&quot; in question 23, and read the row &quot;Compare&quot; in the chart. What to notice. Write proportions as decimals: 0.62, and not 62%. The guide marks a percentage as wro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lide 30" descr="Part 5 Comparing surveys and stating conclusions Different survey means, the same mean with different sample sizes, and how to state a conclusion correctly. In the practice guide: tab &quot;5 Comparing surveys&quot;, questions 24 to 28">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lide 31" descr="Part 5 · Comparing surveys Two surveys above the claim, two decisions second store $31.50 1.5 SE, inside first store $33 3 SE, outside 95% of samples $28 claim $30 $32 2 SE = $2 2 SE = $2 Both stores found a mean above $30. Only the first store is more than 2 SE from the claim. Above or below the claim does not matter. The decision depends on the distance in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lide 32" descr="Part 5 · Comparing surveys The same survey mean, three sample sizes The claim is $30. Three stores each find a survey mean of $31.50 and an SD of $10. 25 customers 100 customers 400 customers SE = s / √n $2 $1 $0.50 Distance of $1.50, in SE 0.75 SE 1.5 SE 3 SE Range: claim ± 2 SE $26 to $34 $28 to $32 $29 to $31 $31.50 is inside inside outside The survey is consistent consistent not consistent A larger sample has a smaller SE, so the same $1.50 is more standard error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Slide 33" descr="Part 5 · Your own words State your conclusions carefully Do not write Write There is less than a 5% chance that the claim is right. If the claim were right, fewer than 5% of samples would be this far away. The survey proves that the claim is right. The survey is consistent with the claim. It gives no reason to reject it. About 95% of customers spend between $31 and $35. With about 95% confidence, the population mean is between $31 and $35. The 95% interval is the list of all the claims that the survey is consistent with.">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lide 34" descr="Do this in the practice guide Open the tab &quot;5 Comparing surveys&quot; Read the worked example with two stores: survey means of $33 and $31.50. In the worked example with three sample sizes, choose n = 25, 100 and 400. Press &quot;Take 1,000 new samples&quot; and read the count under the chart. Answer questions 24 to 28. Questions 24 to 26 use a second survey in the same situation as part 3. What to notice. The same survey mean can be consistent with the claim for a small sample, and not consistent with it for a large sampl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lide 35" descr="Optional · not on the exam The exact percentage What statistics software reports in place of &quot;fewer than 5%&quot;. On the exam you use 2 standard errors, and you write &quot;fewer than 5%&quot; or &quot;more than 5%&quo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Slide 36" descr="Not on the exam Two ways to test a claim Start from the survey Calculate the 95% interval: survey mean ± 2 SE. Is the claimed μ inside the interval? Outside the interval: reject the claim. Start from the claim Assume that the claim is right. How many SE is the survey mean from the claimed μ? How often would a sample mean be that far away, or farther? Fewer than 5% of samples: reject the claim. Both ways give the same decision. The second way also gives an exact percenta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Slide 37" descr="Not on the exam The exact percentage, and the decision Claim $30, SE $1 First store, $33 Second store, $31.50 Third store, $32.17 Distance from the claim 3 SE 1.5 SE 2.17 SE Samples that far away, or farther 0.27% 13.4% 3.0% Less than 5%? yes: reject the claim no: keep the claim yes: reject the claim Third store: if the claim is right, only 3% of all possible samples are this far from $30. 3% is less than 5%, so the claim is rejected with 97% confidence. The 3% is not the chance that the claim is righ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Slide 38" descr="Do this in the practice guide · optional Open the tab &quot;Not on the exam&quot; Under &quot;The same thinking in your own decisions&quot;, each heading is a question. Think about your own answer, and then open it. Under &quot;Technical discussion&quot;, open &quot;How often would a sample mean be this far from the claim?&quot; Choose each of the three stores, and read the percentage under the chart. What to notice. This tab is optional reading. Nothing in it is on the exam.">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Slide 39" descr="Summary Steps and formulas 1. Standard error Mean: s / √n. Proportion: √( p × (1 − p) / n ), with the claimed p in a test and the survey p in an estimate. 2. Test Assume that the claim is right. The range claim ± 2 SE contains 95% of survey results. 3. Decision Survey result inside the range: consistent with the claim. Outside the range: not consistent with the claim. 4. Estimate Survey result ± 2 SE is the 95% interval. 5. Connect The claim is inside the interval exactly when the survey result is inside the rang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Inferential Statistics and Hypothesis Testing</dc:title>
  <dc:subject/>
  <dc:creator/>
  <cp:lastModifiedBy/>
  <cp:revision>1</cp:revision>
  <dcterms:created xsi:type="dcterms:W3CDTF">2026-10-11T05:41:44Z</dcterms:created>
  <dcterms:modified xsi:type="dcterms:W3CDTF">2026-10-11T05:41:44Z</dcterms:modified>
</cp:coreProperties>
</file>