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4ce16884-e770-d325-bada-342c9395d5ad}">
          <p14:sldIdLst>
            <p14:sldId id="256"/>
            <p14:sldId id="257"/>
            <p14:sldId id="258"/>
          </p14:sldIdLst>
        </p14:section>
        <p14:section name="Part 1. Concepts" id="{888c54c0-f17f-5440-1e51-159389b90c6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Part 2. Standard error" id="{154c42dd-a4fc-e76b-4ef5-bdc8ead580c9}">
          <p14:sldIdLst>
            <p14:sldId id="270"/>
            <p14:sldId id="271"/>
            <p14:sldId id="272"/>
            <p14:sldId id="273"/>
            <p14:sldId id="274"/>
          </p14:sldIdLst>
        </p14:section>
        <p14:section name="Part 3. A mean" id="{991712da-3744-200b-e2ca-eb37774128ae}">
          <p14:sldIdLst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Part 4. A proportion" id="{859c63cc-697f-e391-fb73-aa1e96e43591}">
          <p14:sldIdLst>
            <p14:sldId id="281"/>
            <p14:sldId id="282"/>
            <p14:sldId id="283"/>
            <p14:sldId id="284"/>
          </p14:sldIdLst>
        </p14:section>
        <p14:section name="Part 5. Comparing surveys" id="{362f8067-cc21-db3b-2198-d562f7ee064a}">
          <p14:sldIdLst>
            <p14:sldId id="285"/>
            <p14:sldId id="286"/>
            <p14:sldId id="287"/>
            <p14:sldId id="288"/>
            <p14:sldId id="289"/>
          </p14:sldIdLst>
        </p14:section>
        <p14:section name="Part 6. Midterm ideas" id="{c73d6caa-4b3f-217c-7517-07996b9793e2}">
          <p14:sldIdLst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Part 7. Variables and charts" id="{39f1619e-6970-acdf-77fd-4b7ffe52a2f5}">
          <p14:sldIdLst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Optional. Not on the exam" id="{efaea54c-9f6a-2d1e-a57a-0bc48125fa6d}">
          <p14:sldIdLst>
            <p14:sldId id="304"/>
            <p14:sldId id="305"/>
            <p14:sldId id="306"/>
            <p14:sldId id="307"/>
          </p14:sldIdLst>
        </p14:section>
        <p14:section name="Summary" id="{2c1257d4-9804-969f-4916-9552b875f9de}">
          <p14:sldIdLst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15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actice guid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PRACTICE · THE MAIN IDEAS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End-term exam practice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Inferential statistics and hypothesis testing, ideas from the midterm, and variables and charts.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slides of one part. Then follow the steps on the slide "Do this in the practice guide".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survey, two questions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1757660"/>
          </a:xfrm>
          <a:prstGeom prst="roundRect">
            <a:avLst>
              <a:gd name="adj" fmla="val 520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98450"/>
            <a:ext cx="4749759" cy="92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Someone has stated a value, called the claim.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Is the survey consistent with the claim?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1757660"/>
          </a:xfrm>
          <a:prstGeom prst="roundRect">
            <a:avLst>
              <a:gd name="adj" fmla="val 520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598450"/>
            <a:ext cx="4749759" cy="92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Nobody has stated a value.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What does the survey alone tell you about the population?</a:t>
            </a:r>
            <a:endParaRPr lang="en-US" sz="1800" dirty="0"/>
          </a:p>
        </p:txBody>
      </p:sp>
      <p:sp>
        <p:nvSpPr>
          <p:cNvPr id="10" name="Callout"/>
          <p:cNvSpPr/>
          <p:nvPr/>
        </p:nvSpPr>
        <p:spPr>
          <a:xfrm>
            <a:off x="812810" y="3954780"/>
            <a:ext cx="10566441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Callout mark"/>
          <p:cNvSpPr/>
          <p:nvPr/>
        </p:nvSpPr>
        <p:spPr>
          <a:xfrm>
            <a:off x="812810" y="395478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41410" y="395478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 answer both questions from the survey result and its standard error (SE).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these slides with the practice guide</a:t>
            </a:r>
            <a:endParaRPr lang="en-US" sz="4000" dirty="0"/>
          </a:p>
        </p:txBody>
      </p:sp>
      <p:sp>
        <p:nvSpPr>
          <p:cNvPr id="4" name="Steps"/>
          <p:cNvSpPr/>
          <p:nvPr/>
        </p:nvSpPr>
        <p:spPr>
          <a:xfrm>
            <a:off x="812810" y="1943100"/>
            <a:ext cx="10566441" cy="1930390"/>
          </a:xfrm>
          <a:prstGeom prst="roundRect">
            <a:avLst>
              <a:gd name="adj" fmla="val 473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120859"/>
            <a:ext cx="10159990" cy="1574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Open the practice guide "End-term exam practice". Its tabs are at the top of the page.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Read the slides of one part. They give the main ideas.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At the end of each part, follow the steps on the slide "Do this in the practice guide".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Answer the practice questions of that part. The exam questions are taken from them, with different numbers.</a:t>
            </a:r>
            <a:endParaRPr lang="en-US" sz="1700" dirty="0"/>
          </a:p>
        </p:txBody>
      </p:sp>
      <p:sp>
        <p:nvSpPr>
          <p:cNvPr id="6" name="Callout"/>
          <p:cNvSpPr/>
          <p:nvPr/>
        </p:nvSpPr>
        <p:spPr>
          <a:xfrm>
            <a:off x="812810" y="4127510"/>
            <a:ext cx="10566441" cy="1102401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7" name="Callout mark"/>
          <p:cNvSpPr/>
          <p:nvPr/>
        </p:nvSpPr>
        <p:spPr>
          <a:xfrm>
            <a:off x="812810" y="4127510"/>
            <a:ext cx="57150" cy="110240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41410" y="4127510"/>
            <a:ext cx="10185410" cy="110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Buttons in the guide: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Check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marks your entries.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Show the working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gives the solution.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?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explains one answer.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New numbers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gives the same question with different numbers. In parts 6 and 7,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Detailed explanation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gives the full reasoning.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Concepts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mean of one sample tells you about the whole population.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practice guide: tab "1 Concepts", questions 1 to 8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CONCEPTS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Population and sample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30390"/>
            <a:ext cx="4457700" cy="243843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Chart" descr="A grid of 55 circles. Most are grey; 9 dark circles are scattered among th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30" y="2190720"/>
            <a:ext cx="3924330" cy="16129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9820" y="3949659"/>
            <a:ext cx="4203680" cy="391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All the circles: the population. The dark circles: the sample.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76870" y="1943100"/>
            <a:ext cx="5702290" cy="2095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Population</a:t>
            </a:r>
            <a:endParaRPr lang="en-US" sz="24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 whole group you want to know about. Its size is N and its mean is μ. You do not know μ.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n people you ask. The survey mean is the mean of the sample. You know it exactly.</a:t>
            </a:r>
            <a:endParaRPr lang="en-US" sz="2400" dirty="0"/>
          </a:p>
        </p:txBody>
      </p:sp>
      <p:sp>
        <p:nvSpPr>
          <p:cNvPr id="8" name="Callout"/>
          <p:cNvSpPr/>
          <p:nvPr/>
        </p:nvSpPr>
        <p:spPr>
          <a:xfrm>
            <a:off x="812810" y="4673590"/>
            <a:ext cx="10566441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Callout mark"/>
          <p:cNvSpPr/>
          <p:nvPr/>
        </p:nvSpPr>
        <p:spPr>
          <a:xfrm>
            <a:off x="812810" y="467359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41410" y="467359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survey mean is your estimate of μ.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CONCEPTS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estimate is uncertain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1407170"/>
          </a:xfrm>
          <a:prstGeom prst="roundRect">
            <a:avLst>
              <a:gd name="adj" fmla="val 6498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differ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98450"/>
            <a:ext cx="4749759" cy="57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 people in the population have different values.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1407170"/>
          </a:xfrm>
          <a:prstGeom prst="roundRect">
            <a:avLst>
              <a:gd name="adj" fmla="val 6498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sample is only a part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598450"/>
            <a:ext cx="4749759" cy="57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 different sample of the same size would give a different mean.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3604290"/>
            <a:ext cx="10566441" cy="31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There would be no uncertainty in two cases:</a:t>
            </a:r>
            <a:endParaRPr lang="en-US" sz="1800" dirty="0"/>
          </a:p>
        </p:txBody>
      </p:sp>
      <p:sp>
        <p:nvSpPr>
          <p:cNvPr id="11" name="Card"/>
          <p:cNvSpPr/>
          <p:nvPr/>
        </p:nvSpPr>
        <p:spPr>
          <a:xfrm>
            <a:off x="812810" y="4043660"/>
            <a:ext cx="5181630" cy="693390"/>
          </a:xfrm>
          <a:prstGeom prst="roundRect">
            <a:avLst>
              <a:gd name="adj" fmla="val 1318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28700" y="4259550"/>
            <a:ext cx="4749759" cy="29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Every person has the same value.</a:t>
            </a:r>
            <a:endParaRPr lang="en-US" sz="1800" dirty="0"/>
          </a:p>
        </p:txBody>
      </p:sp>
      <p:sp>
        <p:nvSpPr>
          <p:cNvPr id="13" name="Card"/>
          <p:cNvSpPr/>
          <p:nvPr/>
        </p:nvSpPr>
        <p:spPr>
          <a:xfrm>
            <a:off x="6197620" y="4043660"/>
            <a:ext cx="5181630" cy="693390"/>
          </a:xfrm>
          <a:prstGeom prst="roundRect">
            <a:avLst>
              <a:gd name="adj" fmla="val 1318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13510" y="4259550"/>
            <a:ext cx="4749759" cy="29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You survey the whole population.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CONCEPTS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café with 8 customers</a:t>
            </a:r>
            <a:endParaRPr lang="en-US" sz="4000" dirty="0"/>
          </a:p>
        </p:txBody>
      </p:sp>
      <p:sp>
        <p:nvSpPr>
          <p:cNvPr id="4" name="Value box"/>
          <p:cNvSpPr/>
          <p:nvPr/>
        </p:nvSpPr>
        <p:spPr>
          <a:xfrm>
            <a:off x="812810" y="1943100"/>
            <a:ext cx="1231880" cy="838230"/>
          </a:xfrm>
          <a:prstGeom prst="roundRect">
            <a:avLst>
              <a:gd name="adj" fmla="val 872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2810" y="1943100"/>
            <a:ext cx="1231880" cy="838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</a:t>
            </a:r>
            <a:endParaRPr lang="en-US" sz="1200" dirty="0"/>
          </a:p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</a:t>
            </a:r>
            <a:endParaRPr lang="en-US" sz="1200" dirty="0"/>
          </a:p>
        </p:txBody>
      </p:sp>
      <p:sp>
        <p:nvSpPr>
          <p:cNvPr id="6" name="Value box"/>
          <p:cNvSpPr/>
          <p:nvPr/>
        </p:nvSpPr>
        <p:spPr>
          <a:xfrm>
            <a:off x="2146280" y="1943100"/>
            <a:ext cx="1231880" cy="838230"/>
          </a:xfrm>
          <a:prstGeom prst="roundRect">
            <a:avLst>
              <a:gd name="adj" fmla="val 872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6280" y="1943100"/>
            <a:ext cx="1231880" cy="838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</a:t>
            </a:r>
            <a:endParaRPr lang="en-US" sz="1200" dirty="0"/>
          </a:p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</a:t>
            </a:r>
            <a:endParaRPr lang="en-US" sz="1200" dirty="0"/>
          </a:p>
        </p:txBody>
      </p:sp>
      <p:sp>
        <p:nvSpPr>
          <p:cNvPr id="8" name="Value box"/>
          <p:cNvSpPr/>
          <p:nvPr/>
        </p:nvSpPr>
        <p:spPr>
          <a:xfrm>
            <a:off x="3479841" y="1943100"/>
            <a:ext cx="1231880" cy="838230"/>
          </a:xfrm>
          <a:prstGeom prst="roundRect">
            <a:avLst>
              <a:gd name="adj" fmla="val 8727"/>
            </a:avLst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79841" y="1943100"/>
            <a:ext cx="1231880" cy="838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</a:t>
            </a:r>
            <a:endParaRPr lang="en-US" sz="1200" dirty="0"/>
          </a:p>
          <a:p>
            <a:pPr algn="ctr"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</a:t>
            </a:r>
            <a:endParaRPr lang="en-US" sz="1200" dirty="0"/>
          </a:p>
        </p:txBody>
      </p:sp>
      <p:sp>
        <p:nvSpPr>
          <p:cNvPr id="10" name="Value box"/>
          <p:cNvSpPr/>
          <p:nvPr/>
        </p:nvSpPr>
        <p:spPr>
          <a:xfrm>
            <a:off x="4813310" y="1943100"/>
            <a:ext cx="1231880" cy="838230"/>
          </a:xfrm>
          <a:prstGeom prst="roundRect">
            <a:avLst>
              <a:gd name="adj" fmla="val 8727"/>
            </a:avLst>
          </a:prstGeom>
          <a:solidFill>
            <a:schemeClr val="tx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13310" y="1943100"/>
            <a:ext cx="1231880" cy="838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</a:t>
            </a:r>
            <a:endParaRPr lang="en-US" sz="1200" dirty="0"/>
          </a:p>
          <a:p>
            <a:pPr algn="ctr"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</a:t>
            </a:r>
            <a:endParaRPr lang="en-US" sz="1200" dirty="0"/>
          </a:p>
        </p:txBody>
      </p:sp>
      <p:sp>
        <p:nvSpPr>
          <p:cNvPr id="12" name="Value box"/>
          <p:cNvSpPr/>
          <p:nvPr/>
        </p:nvSpPr>
        <p:spPr>
          <a:xfrm>
            <a:off x="6146780" y="1943100"/>
            <a:ext cx="1231880" cy="838230"/>
          </a:xfrm>
          <a:prstGeom prst="roundRect">
            <a:avLst>
              <a:gd name="adj" fmla="val 872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46780" y="1943100"/>
            <a:ext cx="1231880" cy="838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</a:t>
            </a:r>
            <a:endParaRPr lang="en-US" sz="1200" dirty="0"/>
          </a:p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</a:t>
            </a:r>
            <a:endParaRPr lang="en-US" sz="1200" dirty="0"/>
          </a:p>
        </p:txBody>
      </p:sp>
      <p:sp>
        <p:nvSpPr>
          <p:cNvPr id="14" name="Value box"/>
          <p:cNvSpPr/>
          <p:nvPr/>
        </p:nvSpPr>
        <p:spPr>
          <a:xfrm>
            <a:off x="7480341" y="1943100"/>
            <a:ext cx="1231880" cy="838230"/>
          </a:xfrm>
          <a:prstGeom prst="roundRect">
            <a:avLst>
              <a:gd name="adj" fmla="val 872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0341" y="1943100"/>
            <a:ext cx="1231880" cy="838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</a:t>
            </a:r>
            <a:endParaRPr lang="en-US" sz="1200" dirty="0"/>
          </a:p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</a:t>
            </a:r>
            <a:endParaRPr lang="en-US" sz="1200" dirty="0"/>
          </a:p>
        </p:txBody>
      </p:sp>
      <p:sp>
        <p:nvSpPr>
          <p:cNvPr id="16" name="Value box"/>
          <p:cNvSpPr/>
          <p:nvPr/>
        </p:nvSpPr>
        <p:spPr>
          <a:xfrm>
            <a:off x="8813810" y="1943100"/>
            <a:ext cx="1231880" cy="838230"/>
          </a:xfrm>
          <a:prstGeom prst="roundRect">
            <a:avLst>
              <a:gd name="adj" fmla="val 872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13810" y="1943100"/>
            <a:ext cx="1231880" cy="838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</a:t>
            </a:r>
            <a:endParaRPr lang="en-US" sz="1200" dirty="0"/>
          </a:p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</a:t>
            </a:r>
            <a:endParaRPr lang="en-US" sz="1200" dirty="0"/>
          </a:p>
        </p:txBody>
      </p:sp>
      <p:sp>
        <p:nvSpPr>
          <p:cNvPr id="18" name="Value box"/>
          <p:cNvSpPr/>
          <p:nvPr/>
        </p:nvSpPr>
        <p:spPr>
          <a:xfrm>
            <a:off x="10147280" y="1943100"/>
            <a:ext cx="1231880" cy="838230"/>
          </a:xfrm>
          <a:prstGeom prst="roundRect">
            <a:avLst>
              <a:gd name="adj" fmla="val 872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47280" y="1943100"/>
            <a:ext cx="1231880" cy="838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</a:t>
            </a:r>
            <a:endParaRPr lang="en-US" sz="1200" dirty="0"/>
          </a:p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812810" y="2984510"/>
            <a:ext cx="5181630" cy="1757660"/>
          </a:xfrm>
          <a:prstGeom prst="roundRect">
            <a:avLst>
              <a:gd name="adj" fmla="val 520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8700" y="320040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values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028700" y="3639861"/>
            <a:ext cx="4749759" cy="650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One data point is the spend of one customer.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Mean μ = $5. Standard deviation σ = $2.</a:t>
            </a:r>
            <a:endParaRPr lang="en-US" sz="1800" dirty="0"/>
          </a:p>
        </p:txBody>
      </p:sp>
      <p:sp>
        <p:nvSpPr>
          <p:cNvPr id="23" name="Card"/>
          <p:cNvSpPr/>
          <p:nvPr/>
        </p:nvSpPr>
        <p:spPr>
          <a:xfrm>
            <a:off x="6197620" y="2984510"/>
            <a:ext cx="5181630" cy="1757660"/>
          </a:xfrm>
          <a:prstGeom prst="roundRect">
            <a:avLst>
              <a:gd name="adj" fmla="val 520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13510" y="320040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means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6413510" y="3639861"/>
            <a:ext cx="4749759" cy="92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One data point is the mean of one sample.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Sample of customers C and D: (9 + 3) / 2 = $6.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CONCEPTS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size and number of samples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1807220"/>
          </a:xfrm>
          <a:prstGeom prst="roundRect">
            <a:avLst>
              <a:gd name="adj" fmla="val 506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998500"/>
            <a:ext cx="4749759" cy="57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Sample size.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The number of customers in one sample.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1807220"/>
          </a:xfrm>
          <a:prstGeom prst="roundRect">
            <a:avLst>
              <a:gd name="adj" fmla="val 506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998500"/>
            <a:ext cx="4749759" cy="57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Number of samples.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How many times a sample was taken.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4004340"/>
            <a:ext cx="10566441" cy="92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Only n is used in the formulas.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 a real survey you take one sample. The other samples are imagined, to ask how different your survey mean could have been.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CONCEPTS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possible sample of the 8 customers</a:t>
            </a:r>
            <a:endParaRPr lang="en-US" sz="4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100"/>
          <a:ext cx="10566441" cy="914400"/>
        </p:xfrm>
        <a:graphic>
          <a:graphicData uri="http://schemas.openxmlformats.org/drawingml/2006/table">
            <a:tbl>
              <a:tblPr/>
              <a:tblGrid>
                <a:gridCol w="1690634"/>
                <a:gridCol w="2113270"/>
                <a:gridCol w="2324588"/>
                <a:gridCol w="2113270"/>
                <a:gridCol w="23245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size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of all sample means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 of all sample means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/ √n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√1 = $2.00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√2 = $1.41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√4 = $1.00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812810" y="4076670"/>
            <a:ext cx="5181630" cy="82808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llout mark"/>
          <p:cNvSpPr/>
          <p:nvPr/>
        </p:nvSpPr>
        <p:spPr>
          <a:xfrm>
            <a:off x="812810" y="407667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41410" y="4076670"/>
            <a:ext cx="480060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Center.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The mean of all sample means is exactly μ.</a:t>
            </a:r>
            <a:endParaRPr lang="en-US" sz="1800" dirty="0"/>
          </a:p>
        </p:txBody>
      </p:sp>
      <p:sp>
        <p:nvSpPr>
          <p:cNvPr id="8" name="Callout"/>
          <p:cNvSpPr/>
          <p:nvPr/>
        </p:nvSpPr>
        <p:spPr>
          <a:xfrm>
            <a:off x="6197620" y="4076670"/>
            <a:ext cx="5181630" cy="82808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Callout mark"/>
          <p:cNvSpPr/>
          <p:nvPr/>
        </p:nvSpPr>
        <p:spPr>
          <a:xfrm>
            <a:off x="6197620" y="407667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26220" y="4076670"/>
            <a:ext cx="480060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Spread.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Their standard deviation is σ / √n. Its name is the standard error (SE).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CONCEPTS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values and sample means</a:t>
            </a:r>
            <a:endParaRPr lang="en-US" sz="4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100"/>
          <a:ext cx="10566441" cy="914400"/>
        </p:xfrm>
        <a:graphic>
          <a:graphicData uri="http://schemas.openxmlformats.org/drawingml/2006/table">
            <a:tbl>
              <a:tblPr/>
              <a:tblGrid>
                <a:gridCol w="2535906"/>
                <a:gridCol w="4015222"/>
                <a:gridCol w="401522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values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means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data point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value of one person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mean of one sample of n people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σ, the standard deviation (SD)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/ √n, the standard error (SE)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shape, often skewed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approximately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812810" y="4241810"/>
            <a:ext cx="10566441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llout mark"/>
          <p:cNvSpPr/>
          <p:nvPr/>
        </p:nvSpPr>
        <p:spPr>
          <a:xfrm>
            <a:off x="812810" y="424181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41410" y="424181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Compare one person with the SD. Compare a sample mean with the SE.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CONCEPTS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results about larger samples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2031980"/>
          </a:xfrm>
          <a:prstGeom prst="roundRect">
            <a:avLst>
              <a:gd name="adj" fmla="val 45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 of large numbers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98450"/>
            <a:ext cx="4749759" cy="1198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 mean of a larger sample tends to be closer to the population mean μ.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A mean from 400 people is usually closer to μ than a mean from 25 people.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2031980"/>
          </a:xfrm>
          <a:prstGeom prst="roundRect">
            <a:avLst>
              <a:gd name="adj" fmla="val 45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limit theorem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598450"/>
            <a:ext cx="4749759" cy="1198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When the sample is large enough, sample means are approximately normally distributed.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This is true even when the population is skewed.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CONCEPTS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empirical rule for sample means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43100"/>
            <a:ext cx="3301990" cy="31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Example: μ = $30 and SE = $1.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369850"/>
            <a:ext cx="3301990" cy="183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About 68%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of sample means are within 1 SE of μ: $29 to $31.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About 95%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are within 2 SE: $28 to $32.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About 99.7%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are within 3 SE: $27 to $33.</a:t>
            </a:r>
            <a:endParaRPr lang="en-US" sz="1800" dirty="0"/>
          </a:p>
        </p:txBody>
      </p:sp>
      <p:pic>
        <p:nvPicPr>
          <p:cNvPr id="6" name="Chart" descr="Normal curve of sample means centered at $30, with brackets: about 68% between $29 and $31, about 95% between $28 and $32, about 99.7% between $27 and $3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80" y="1968520"/>
            <a:ext cx="6311920" cy="2975000"/>
          </a:xfrm>
          <a:prstGeom prst="rect">
            <a:avLst/>
          </a:prstGeom>
        </p:spPr>
      </p:pic>
      <p:sp>
        <p:nvSpPr>
          <p:cNvPr id="7" name="Callout"/>
          <p:cNvSpPr/>
          <p:nvPr/>
        </p:nvSpPr>
        <p:spPr>
          <a:xfrm>
            <a:off x="4521159" y="5156210"/>
            <a:ext cx="6603980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llout mark"/>
          <p:cNvSpPr/>
          <p:nvPr/>
        </p:nvSpPr>
        <p:spPr>
          <a:xfrm>
            <a:off x="4521159" y="515621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49759" y="5156210"/>
            <a:ext cx="6223041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95% rule is the one used in tests and intervals.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CONCEPTS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proportion is a mean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43100"/>
            <a:ext cx="10566441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Ten people answer a yes or no question. Write 1 for yes and 0 for no.</a:t>
            </a:r>
            <a:endParaRPr lang="en-US" sz="1300" dirty="0"/>
          </a:p>
        </p:txBody>
      </p:sp>
      <p:sp>
        <p:nvSpPr>
          <p:cNvPr id="5" name="Value box"/>
          <p:cNvSpPr/>
          <p:nvPr/>
        </p:nvSpPr>
        <p:spPr>
          <a:xfrm>
            <a:off x="812810" y="2255550"/>
            <a:ext cx="965241" cy="660380"/>
          </a:xfrm>
          <a:prstGeom prst="roundRect">
            <a:avLst>
              <a:gd name="adj" fmla="val 11077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2810" y="2255550"/>
            <a:ext cx="965241" cy="660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Value box"/>
          <p:cNvSpPr/>
          <p:nvPr/>
        </p:nvSpPr>
        <p:spPr>
          <a:xfrm>
            <a:off x="1879641" y="2255550"/>
            <a:ext cx="965241" cy="660380"/>
          </a:xfrm>
          <a:prstGeom prst="roundRect">
            <a:avLst>
              <a:gd name="adj" fmla="val 110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79641" y="2255550"/>
            <a:ext cx="965241" cy="660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9" name="Value box"/>
          <p:cNvSpPr/>
          <p:nvPr/>
        </p:nvSpPr>
        <p:spPr>
          <a:xfrm>
            <a:off x="2946380" y="2255550"/>
            <a:ext cx="965241" cy="660380"/>
          </a:xfrm>
          <a:prstGeom prst="roundRect">
            <a:avLst>
              <a:gd name="adj" fmla="val 110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46380" y="2255550"/>
            <a:ext cx="965241" cy="660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1" name="Value box"/>
          <p:cNvSpPr/>
          <p:nvPr/>
        </p:nvSpPr>
        <p:spPr>
          <a:xfrm>
            <a:off x="4013210" y="2255550"/>
            <a:ext cx="965241" cy="660380"/>
          </a:xfrm>
          <a:prstGeom prst="roundRect">
            <a:avLst>
              <a:gd name="adj" fmla="val 11077"/>
            </a:avLst>
          </a:prstGeom>
          <a:solidFill>
            <a:schemeClr val="tx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13210" y="2255550"/>
            <a:ext cx="965241" cy="660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3" name="Value box"/>
          <p:cNvSpPr/>
          <p:nvPr/>
        </p:nvSpPr>
        <p:spPr>
          <a:xfrm>
            <a:off x="5080041" y="2255550"/>
            <a:ext cx="965241" cy="660380"/>
          </a:xfrm>
          <a:prstGeom prst="roundRect">
            <a:avLst>
              <a:gd name="adj" fmla="val 110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80041" y="2255550"/>
            <a:ext cx="965241" cy="660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Value box"/>
          <p:cNvSpPr/>
          <p:nvPr/>
        </p:nvSpPr>
        <p:spPr>
          <a:xfrm>
            <a:off x="6146780" y="2255550"/>
            <a:ext cx="965241" cy="660380"/>
          </a:xfrm>
          <a:prstGeom prst="roundRect">
            <a:avLst>
              <a:gd name="adj" fmla="val 110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46780" y="2255550"/>
            <a:ext cx="965241" cy="660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7" name="Value box"/>
          <p:cNvSpPr/>
          <p:nvPr/>
        </p:nvSpPr>
        <p:spPr>
          <a:xfrm>
            <a:off x="7213610" y="2255550"/>
            <a:ext cx="965241" cy="660380"/>
          </a:xfrm>
          <a:prstGeom prst="roundRect">
            <a:avLst>
              <a:gd name="adj" fmla="val 110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13610" y="2255550"/>
            <a:ext cx="965241" cy="660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Value box"/>
          <p:cNvSpPr/>
          <p:nvPr/>
        </p:nvSpPr>
        <p:spPr>
          <a:xfrm>
            <a:off x="8280441" y="2255550"/>
            <a:ext cx="965241" cy="660380"/>
          </a:xfrm>
          <a:prstGeom prst="roundRect">
            <a:avLst>
              <a:gd name="adj" fmla="val 110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80441" y="2255550"/>
            <a:ext cx="965241" cy="660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21" name="Value box"/>
          <p:cNvSpPr/>
          <p:nvPr/>
        </p:nvSpPr>
        <p:spPr>
          <a:xfrm>
            <a:off x="9347180" y="2255550"/>
            <a:ext cx="965241" cy="660380"/>
          </a:xfrm>
          <a:prstGeom prst="roundRect">
            <a:avLst>
              <a:gd name="adj" fmla="val 110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47180" y="2255550"/>
            <a:ext cx="965241" cy="660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23" name="Value box"/>
          <p:cNvSpPr/>
          <p:nvPr/>
        </p:nvSpPr>
        <p:spPr>
          <a:xfrm>
            <a:off x="10414010" y="2255550"/>
            <a:ext cx="965241" cy="660380"/>
          </a:xfrm>
          <a:prstGeom prst="roundRect">
            <a:avLst>
              <a:gd name="adj" fmla="val 110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414010" y="2255550"/>
            <a:ext cx="965241" cy="660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25" name="Card"/>
          <p:cNvSpPr/>
          <p:nvPr/>
        </p:nvSpPr>
        <p:spPr>
          <a:xfrm>
            <a:off x="812810" y="3220700"/>
            <a:ext cx="3386663" cy="1757660"/>
          </a:xfrm>
          <a:prstGeom prst="roundRect">
            <a:avLst>
              <a:gd name="adj" fmla="val 520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8700" y="3436590"/>
            <a:ext cx="2954884" cy="701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mean is the proportion p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1028700" y="4226540"/>
            <a:ext cx="2954884" cy="29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 = 2 / 10 = 0.20</a:t>
            </a:r>
            <a:endParaRPr lang="en-US" sz="1800" dirty="0"/>
          </a:p>
        </p:txBody>
      </p:sp>
      <p:sp>
        <p:nvSpPr>
          <p:cNvPr id="28" name="Card"/>
          <p:cNvSpPr/>
          <p:nvPr/>
        </p:nvSpPr>
        <p:spPr>
          <a:xfrm>
            <a:off x="4402653" y="3220700"/>
            <a:ext cx="3386663" cy="1757660"/>
          </a:xfrm>
          <a:prstGeom prst="roundRect">
            <a:avLst>
              <a:gd name="adj" fmla="val 520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18543" y="3436590"/>
            <a:ext cx="2954884" cy="701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standard deviation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4618543" y="4226540"/>
            <a:ext cx="2954884" cy="57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√( p × (1 − p) ) = √( 0.20 × 0.80 ) = 0.40</a:t>
            </a:r>
            <a:endParaRPr lang="en-US" sz="1800" dirty="0"/>
          </a:p>
        </p:txBody>
      </p:sp>
      <p:sp>
        <p:nvSpPr>
          <p:cNvPr id="31" name="Card"/>
          <p:cNvSpPr/>
          <p:nvPr/>
        </p:nvSpPr>
        <p:spPr>
          <a:xfrm>
            <a:off x="7992496" y="3220700"/>
            <a:ext cx="3386663" cy="1757660"/>
          </a:xfrm>
          <a:prstGeom prst="roundRect">
            <a:avLst>
              <a:gd name="adj" fmla="val 520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08477" y="3436590"/>
            <a:ext cx="2954884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decimals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8208477" y="3876050"/>
            <a:ext cx="2954884" cy="29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Write 20% as 0.20.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IN THE PRACTICE GUIDE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tab "1 Concepts"</a:t>
            </a:r>
            <a:endParaRPr lang="en-US" sz="4000" dirty="0"/>
          </a:p>
        </p:txBody>
      </p:sp>
      <p:sp>
        <p:nvSpPr>
          <p:cNvPr id="4" name="Steps"/>
          <p:cNvSpPr/>
          <p:nvPr/>
        </p:nvSpPr>
        <p:spPr>
          <a:xfrm>
            <a:off x="812810" y="1943100"/>
            <a:ext cx="10566441" cy="2448580"/>
          </a:xfrm>
          <a:prstGeom prst="roundRect">
            <a:avLst>
              <a:gd name="adj" fmla="val 373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120859"/>
            <a:ext cx="10159990" cy="2092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In the café example, press "Take 12 new samples" several times. In the chart "The two distributions", the 12 sample means change each time.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Under "The mean of the sample means is μ", read the table of the 64 possible samples. Check that 320 / 64 = $5.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In the simulation of 1,000 samples, choose n = 1, 25, 100 and 400. Compare the counts with 680, 950 and 997.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Answer questions 1 to 8. Press "Check", and then "?" beside an answer.</a:t>
            </a:r>
            <a:endParaRPr lang="en-US" sz="1700" dirty="0"/>
          </a:p>
        </p:txBody>
      </p:sp>
      <p:sp>
        <p:nvSpPr>
          <p:cNvPr id="6" name="Callout"/>
          <p:cNvSpPr/>
          <p:nvPr/>
        </p:nvSpPr>
        <p:spPr>
          <a:xfrm>
            <a:off x="812810" y="4645701"/>
            <a:ext cx="10566441" cy="828081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7" name="Callout mark"/>
          <p:cNvSpPr/>
          <p:nvPr/>
        </p:nvSpPr>
        <p:spPr>
          <a:xfrm>
            <a:off x="812810" y="4645701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41410" y="4645701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to notice.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With larger samples, the sample means are closer to μ and their shape is closer to normal.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error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the mean of a sample usually is from μ.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practice guide: tab "2 Standard error", questions 9 to 13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STANDARD ERROR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formulas for the standard error</a:t>
            </a:r>
            <a:endParaRPr lang="en-US" sz="4000" dirty="0"/>
          </a:p>
        </p:txBody>
      </p:sp>
      <p:sp>
        <p:nvSpPr>
          <p:cNvPr id="4" name="Formula card"/>
          <p:cNvSpPr/>
          <p:nvPr/>
        </p:nvSpPr>
        <p:spPr>
          <a:xfrm>
            <a:off x="812810" y="1943100"/>
            <a:ext cx="10566441" cy="1358890"/>
          </a:xfrm>
          <a:prstGeom prst="roundRect">
            <a:avLst>
              <a:gd name="adj" fmla="val 6729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6830" y="2133570"/>
            <a:ext cx="4444990" cy="977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mean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 is the standard deviation in your survey. n is the sample size.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273790" y="1943100"/>
            <a:ext cx="4851441" cy="1358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= s / √n</a:t>
            </a:r>
            <a:endParaRPr lang="en-US" sz="3200" dirty="0"/>
          </a:p>
        </p:txBody>
      </p:sp>
      <p:sp>
        <p:nvSpPr>
          <p:cNvPr id="7" name="Formula card"/>
          <p:cNvSpPr/>
          <p:nvPr/>
        </p:nvSpPr>
        <p:spPr>
          <a:xfrm>
            <a:off x="812810" y="3454420"/>
            <a:ext cx="10566441" cy="1358890"/>
          </a:xfrm>
          <a:prstGeom prst="roundRect">
            <a:avLst>
              <a:gd name="adj" fmla="val 6729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6830" y="3644890"/>
            <a:ext cx="4444990" cy="977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proportion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 is the proportion, written as a decimal. n is the sample size.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273790" y="3454420"/>
            <a:ext cx="4851441" cy="1358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= √( p × (1 − p) / n )</a:t>
            </a:r>
            <a:endParaRPr lang="en-US" sz="3200" dirty="0"/>
          </a:p>
        </p:txBody>
      </p:sp>
      <p:sp>
        <p:nvSpPr>
          <p:cNvPr id="10" name="Callout"/>
          <p:cNvSpPr/>
          <p:nvPr/>
        </p:nvSpPr>
        <p:spPr>
          <a:xfrm>
            <a:off x="812810" y="5067330"/>
            <a:ext cx="10566441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Callout mark"/>
          <p:cNvSpPr/>
          <p:nvPr/>
        </p:nvSpPr>
        <p:spPr>
          <a:xfrm>
            <a:off x="812810" y="506733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41410" y="506733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More difference among people gives a larger SE. A larger sample gives a smaller SE.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STANDARD ERROR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times the sample, half the standard error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3386663" cy="1456731"/>
          </a:xfrm>
          <a:prstGeom prst="roundRect">
            <a:avLst>
              <a:gd name="adj" fmla="val 62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2954884" cy="215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Survey of 100 customers, s = $10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374880"/>
            <a:ext cx="2954884" cy="49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= $1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922240"/>
            <a:ext cx="2954884" cy="29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10 / √100 = 10 / 10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4402653" y="1943100"/>
            <a:ext cx="3386663" cy="1456731"/>
          </a:xfrm>
          <a:prstGeom prst="roundRect">
            <a:avLst>
              <a:gd name="adj" fmla="val 62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8543" y="2158990"/>
            <a:ext cx="2954884" cy="215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Survey of 400 customers, s = $10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18543" y="2374880"/>
            <a:ext cx="2954884" cy="49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= $0.50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618543" y="2922240"/>
            <a:ext cx="2954884" cy="29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10 / √400 = 10 / 20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7992496" y="1943100"/>
            <a:ext cx="3386663" cy="1456731"/>
          </a:xfrm>
          <a:prstGeom prst="roundRect">
            <a:avLst>
              <a:gd name="adj" fmla="val 62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08477" y="2158990"/>
            <a:ext cx="2954884" cy="215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proportion: 20 of 100 are members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08477" y="2374880"/>
            <a:ext cx="2954884" cy="49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= 0.04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208477" y="2922240"/>
            <a:ext cx="2954884" cy="29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√( 0.20 × 0.80 / 100 )</a:t>
            </a:r>
            <a:endParaRPr lang="en-US" sz="1800" dirty="0"/>
          </a:p>
        </p:txBody>
      </p:sp>
      <p:sp>
        <p:nvSpPr>
          <p:cNvPr id="16" name="Callout"/>
          <p:cNvSpPr/>
          <p:nvPr/>
        </p:nvSpPr>
        <p:spPr>
          <a:xfrm>
            <a:off x="812810" y="3653760"/>
            <a:ext cx="10566441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llout mark"/>
          <p:cNvSpPr/>
          <p:nvPr/>
        </p:nvSpPr>
        <p:spPr>
          <a:xfrm>
            <a:off x="812810" y="365376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41410" y="365376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small SE means that the survey result is a precise estimate.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STANDARD ERROR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$33 unusual?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43100"/>
            <a:ext cx="10566441" cy="31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The population mean is $30 and the SD is $10. For a sample of 100 customers, SE = $1.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407890"/>
          <a:ext cx="10566441" cy="914400"/>
        </p:xfrm>
        <a:graphic>
          <a:graphicData uri="http://schemas.openxmlformats.org/drawingml/2006/table">
            <a:tbl>
              <a:tblPr/>
              <a:tblGrid>
                <a:gridCol w="2535906"/>
                <a:gridCol w="3381268"/>
                <a:gridCol w="46491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customer spends $33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sample of 100 customers has a mean of $33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with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 = $10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= $1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from 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10 = 0.3 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 = 3 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than 2?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unusual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Unusual: fewer than 5% of sample means are more than 2 SE from 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IN THE PRACTICE GUIDE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tab "2 Standard error"</a:t>
            </a:r>
            <a:endParaRPr lang="en-US" sz="4000" dirty="0"/>
          </a:p>
        </p:txBody>
      </p:sp>
      <p:sp>
        <p:nvSpPr>
          <p:cNvPr id="4" name="Steps"/>
          <p:cNvSpPr/>
          <p:nvPr/>
        </p:nvSpPr>
        <p:spPr>
          <a:xfrm>
            <a:off x="812810" y="1943100"/>
            <a:ext cx="10566441" cy="2189439"/>
          </a:xfrm>
          <a:prstGeom prst="roundRect">
            <a:avLst>
              <a:gd name="adj" fmla="val 4176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120859"/>
            <a:ext cx="10159990" cy="183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Read the three worked examples.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In the third example, look at the chart. $33 is inside the range for one customer and outside the range for a sample mean.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Answer questions 9 to 13.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Press "New numbers" in a question and answer it again. Repeat until you do not need "Show the working".</a:t>
            </a:r>
            <a:endParaRPr lang="en-US" sz="1700" dirty="0"/>
          </a:p>
        </p:txBody>
      </p:sp>
      <p:sp>
        <p:nvSpPr>
          <p:cNvPr id="6" name="Callout"/>
          <p:cNvSpPr/>
          <p:nvPr/>
        </p:nvSpPr>
        <p:spPr>
          <a:xfrm>
            <a:off x="812810" y="4386560"/>
            <a:ext cx="10566441" cy="553761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7" name="Callout mark"/>
          <p:cNvSpPr/>
          <p:nvPr/>
        </p:nvSpPr>
        <p:spPr>
          <a:xfrm>
            <a:off x="812810" y="438656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41410" y="438656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to notice.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Compare one person with the SD. Compare a sample mean with the SE.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mean: test and estimate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claim about a mean, calculate the 95% interval, and connect the two.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practice guide: tab "3 A mean", questions 14 to 20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A MEAN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Test: is the survey consistent with the claim?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43100"/>
            <a:ext cx="3683020" cy="2095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Assume that the claim is right.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Calculate the range claim ± 2 SE. It contains 95% of sample means.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Survey mean inside the range: consistent with the claim.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Survey mean outside the range: not consistent with the claim.</a:t>
            </a:r>
            <a:endParaRPr lang="en-US" sz="1800" dirty="0"/>
          </a:p>
        </p:txBody>
      </p:sp>
      <p:pic>
        <p:nvPicPr>
          <p:cNvPr id="5" name="Chart" descr="Normal curve centered on the claim of $30, with 95% of samples between $28 and $32. The survey mean of $33 is marked outside the rang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7750" y="2028871"/>
            <a:ext cx="6438930" cy="27336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775180" y="4927610"/>
            <a:ext cx="6603980" cy="391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Bookstore: the claim is $30. A survey of 100 customers has a mean of $33 and an SD of $10, so SE = $1.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A MEAN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Estimate: what does the survey alone tell you?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43100"/>
            <a:ext cx="3556010" cy="31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Set the claim aside.</a:t>
            </a:r>
            <a:endParaRPr lang="en-US" sz="1800" dirty="0"/>
          </a:p>
        </p:txBody>
      </p:sp>
      <p:sp>
        <p:nvSpPr>
          <p:cNvPr id="5" name="Card"/>
          <p:cNvSpPr/>
          <p:nvPr/>
        </p:nvSpPr>
        <p:spPr>
          <a:xfrm>
            <a:off x="812810" y="2395179"/>
            <a:ext cx="3556010" cy="131061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611161"/>
            <a:ext cx="3124230" cy="215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95% interval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827050"/>
            <a:ext cx="3124230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survey mean ± 2 SE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228381"/>
            <a:ext cx="3124230" cy="29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33 ± 2 × 1 = $31 to $35</a:t>
            </a:r>
            <a:endParaRPr lang="en-US" sz="1800" dirty="0"/>
          </a:p>
        </p:txBody>
      </p:sp>
      <p:pic>
        <p:nvPicPr>
          <p:cNvPr id="9" name="Chart" descr="The 95% interval from $31 to $35 around the survey mean of $33, 2 SE on each side. The claim of $30 is outside the interv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4820" y="1990740"/>
            <a:ext cx="4476720" cy="1679570"/>
          </a:xfrm>
          <a:prstGeom prst="rect">
            <a:avLst/>
          </a:prstGeom>
        </p:spPr>
      </p:pic>
      <p:sp>
        <p:nvSpPr>
          <p:cNvPr id="10" name="Callout"/>
          <p:cNvSpPr/>
          <p:nvPr/>
        </p:nvSpPr>
        <p:spPr>
          <a:xfrm>
            <a:off x="4394241" y="3975080"/>
            <a:ext cx="6985010" cy="82808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Callout mark"/>
          <p:cNvSpPr/>
          <p:nvPr/>
        </p:nvSpPr>
        <p:spPr>
          <a:xfrm>
            <a:off x="4394241" y="397508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22841" y="3975080"/>
            <a:ext cx="660398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With about 95% confidence, the average spend per visit of all customers is between $31 and $35.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A MEAN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Connect: the two answers always agree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823241" y="1943100"/>
            <a:ext cx="3556010" cy="861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 claim is inside the interval exactly when the survey mean is inside the range.</a:t>
            </a:r>
            <a:endParaRPr lang="en-US" sz="1800" dirty="0"/>
          </a:p>
        </p:txBody>
      </p:sp>
      <p:sp>
        <p:nvSpPr>
          <p:cNvPr id="5" name="Callout"/>
          <p:cNvSpPr/>
          <p:nvPr/>
        </p:nvSpPr>
        <p:spPr>
          <a:xfrm>
            <a:off x="7823241" y="2994660"/>
            <a:ext cx="3556010" cy="82808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llout mark"/>
          <p:cNvSpPr/>
          <p:nvPr/>
        </p:nvSpPr>
        <p:spPr>
          <a:xfrm>
            <a:off x="7823241" y="299466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51841" y="2994660"/>
            <a:ext cx="317498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Both answers compare the same distance with the same 2 SE.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823241" y="3987790"/>
            <a:ext cx="3556010" cy="391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open circle is the claim. The filled circle is the survey mean.</a:t>
            </a:r>
            <a:endParaRPr lang="en-US" sz="1200" dirty="0"/>
          </a:p>
        </p:txBody>
      </p:sp>
      <p:pic>
        <p:nvPicPr>
          <p:cNvPr id="9" name="Chart" descr="Three rows. Test: the survey mean $33 is outside the range $28 to $32. Estimate: the claim $30 is outside the interval $31 to $35. Compare: the distance of $3 is 3 SE, more than 2 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571" y="1927189"/>
            <a:ext cx="6397600" cy="261939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A MEAN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does not mean proved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3319821"/>
          </a:xfrm>
          <a:prstGeom prst="roundRect">
            <a:avLst>
              <a:gd name="adj" fmla="val 275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store: survey mean $31.50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98450"/>
            <a:ext cx="4749759" cy="2486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claim is $30 and SE = $1.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Distance: $1.50, which is 1.5 SE.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Range $28 to $32: the survey mean is inside it.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Interval $29.50 to $33.50: the claim is inside it.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Decision: the survey is consistent with the claim.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3319821"/>
          </a:xfrm>
          <a:prstGeom prst="roundRect">
            <a:avLst>
              <a:gd name="adj" fmla="val 275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701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claim of $31 or of $33 would also be consistent with this survey.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948940"/>
            <a:ext cx="4749759" cy="1122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Both values are inside the interval. The survey gives no reason to reject the claim of $30. It does not prove that the claim is right.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IN THE PRACTICE GUIDE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tab "3 A mean"</a:t>
            </a:r>
            <a:endParaRPr lang="en-US" sz="4000" dirty="0"/>
          </a:p>
        </p:txBody>
      </p:sp>
      <p:sp>
        <p:nvSpPr>
          <p:cNvPr id="4" name="Steps"/>
          <p:cNvSpPr/>
          <p:nvPr/>
        </p:nvSpPr>
        <p:spPr>
          <a:xfrm>
            <a:off x="812810" y="1943100"/>
            <a:ext cx="10566441" cy="2189439"/>
          </a:xfrm>
          <a:prstGeom prst="roundRect">
            <a:avLst>
              <a:gd name="adj" fmla="val 4176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120859"/>
            <a:ext cx="10159990" cy="183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Read the two worked examples. In each, find the three charts: Test, Estimate and Connect.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Under "Questions 14 to 20", read the situation in the shaded box. Answer questions 14 to 20 in order.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Press "Show the working" in questions 16, 18 and 20. The charts are drawn for your numbers.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Press "New numbers" in the shaded box and answer the questions again. This also changes the numbers in parts 4 and 5.</a:t>
            </a:r>
            <a:endParaRPr lang="en-US" sz="1700" dirty="0"/>
          </a:p>
        </p:txBody>
      </p:sp>
      <p:sp>
        <p:nvSpPr>
          <p:cNvPr id="6" name="Callout"/>
          <p:cNvSpPr/>
          <p:nvPr/>
        </p:nvSpPr>
        <p:spPr>
          <a:xfrm>
            <a:off x="812810" y="4386560"/>
            <a:ext cx="10566441" cy="553761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7" name="Callout mark"/>
          <p:cNvSpPr/>
          <p:nvPr/>
        </p:nvSpPr>
        <p:spPr>
          <a:xfrm>
            <a:off x="812810" y="438656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41410" y="438656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to notice.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The test and the interval always agree.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proportion: test and estimate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steps as for a mean. Only the standard error is different.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practice guide: tab "4 A proportion", questions 21 to 23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A PROPORTION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p goes into the standard error?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1681490"/>
          </a:xfrm>
          <a:prstGeom prst="roundRect">
            <a:avLst>
              <a:gd name="adj" fmla="val 5438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Test: the claimed p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98450"/>
            <a:ext cx="4749759" cy="57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You assume that the claim is right, so the SE uses the claimed proportion.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1681490"/>
          </a:xfrm>
          <a:prstGeom prst="roundRect">
            <a:avLst>
              <a:gd name="adj" fmla="val 5438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Estimate: the survey p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598450"/>
            <a:ext cx="4749759" cy="848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There is no claim to assume, so the SE uses the survey proportion. Round this SE to two decimals.</a:t>
            </a:r>
            <a:endParaRPr lang="en-US" sz="1800" dirty="0"/>
          </a:p>
        </p:txBody>
      </p:sp>
      <p:sp>
        <p:nvSpPr>
          <p:cNvPr id="10" name="Callout"/>
          <p:cNvSpPr/>
          <p:nvPr/>
        </p:nvSpPr>
        <p:spPr>
          <a:xfrm>
            <a:off x="812810" y="3878610"/>
            <a:ext cx="10566441" cy="82808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Callout mark"/>
          <p:cNvSpPr/>
          <p:nvPr/>
        </p:nvSpPr>
        <p:spPr>
          <a:xfrm>
            <a:off x="812810" y="387861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41410" y="3878610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steps are the same as for a mean: claim ± 2 SE for the test, and survey proportion ± 2 SE for the estimate.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A PROPORTION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62 of 100 customers bought a coffee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43100"/>
            <a:ext cx="10566441" cy="31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Claim: 50% of customers buy a coffee. Survey proportion = 62 / 100 = 0.62.</a:t>
            </a:r>
            <a:endParaRPr lang="en-US" sz="1800" dirty="0"/>
          </a:p>
        </p:txBody>
      </p:sp>
      <p:sp>
        <p:nvSpPr>
          <p:cNvPr id="5" name="Card"/>
          <p:cNvSpPr/>
          <p:nvPr/>
        </p:nvSpPr>
        <p:spPr>
          <a:xfrm>
            <a:off x="812810" y="2407890"/>
            <a:ext cx="5181630" cy="2446020"/>
          </a:xfrm>
          <a:prstGeom prst="roundRect">
            <a:avLst>
              <a:gd name="adj" fmla="val 3738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623779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3063240"/>
            <a:ext cx="4749759" cy="161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 = √( 0.50 × 0.50 / 100 ) = 0.05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Range: 0.50 ± 2 × 0.05 = 0.40 to 0.60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Distance: 0.12, which is 2.4 SE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0.62 is outside the range. The survey is not consistent with the claim.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6197620" y="2407890"/>
            <a:ext cx="5181630" cy="2446020"/>
          </a:xfrm>
          <a:prstGeom prst="roundRect">
            <a:avLst>
              <a:gd name="adj" fmla="val 3738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13510" y="2623779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413510" y="3063240"/>
            <a:ext cx="4749759" cy="128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 = √( 0.62 × 0.38 / 100 ) = 0.0485, which is 0.05 to two decimals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Interval: 0.62 ± 2 × 0.05 = 0.52 to 0.72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claim, 0.50, is outside the interval.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IN THE PRACTICE GUIDE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tab "4 A proportion"</a:t>
            </a:r>
            <a:endParaRPr lang="en-US" sz="4000" dirty="0"/>
          </a:p>
        </p:txBody>
      </p:sp>
      <p:sp>
        <p:nvSpPr>
          <p:cNvPr id="4" name="Steps"/>
          <p:cNvSpPr/>
          <p:nvPr/>
        </p:nvSpPr>
        <p:spPr>
          <a:xfrm>
            <a:off x="812810" y="1943100"/>
            <a:ext cx="10566441" cy="1595079"/>
          </a:xfrm>
          <a:prstGeom prst="roundRect">
            <a:avLst>
              <a:gd name="adj" fmla="val 573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120859"/>
            <a:ext cx="10159990" cy="1239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Read the worked example about coffee. Find where the test uses 0.50 in the standard error, and where the estimate uses 0.62.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Answer questions 21 to 23. They use the same situation as part 3.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Press "Show the working" in question 23, and read the row "Compare" in the chart.</a:t>
            </a:r>
            <a:endParaRPr lang="en-US" sz="1700" dirty="0"/>
          </a:p>
        </p:txBody>
      </p:sp>
      <p:sp>
        <p:nvSpPr>
          <p:cNvPr id="6" name="Callout"/>
          <p:cNvSpPr/>
          <p:nvPr/>
        </p:nvSpPr>
        <p:spPr>
          <a:xfrm>
            <a:off x="812810" y="3792200"/>
            <a:ext cx="10566441" cy="828081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7" name="Callout mark"/>
          <p:cNvSpPr/>
          <p:nvPr/>
        </p:nvSpPr>
        <p:spPr>
          <a:xfrm>
            <a:off x="812810" y="379220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41410" y="3792200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to notice.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Write proportions as decimals: 0.62, and not 62%. The guide marks a percentage as wrong.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surveys and stating conclusions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survey means, the same mean with different sample sizes, and how to state a conclusion correctly.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practice guide: tab "5 Comparing surveys", questions 24 to 28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COMPARING SURVEYS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surveys above the claim, two decisions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823241" y="1943100"/>
            <a:ext cx="3556010" cy="861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Both stores found a mean above $30. Only the first store is more than 2 SE from the claim.</a:t>
            </a:r>
            <a:endParaRPr lang="en-US" sz="1800" dirty="0"/>
          </a:p>
        </p:txBody>
      </p:sp>
      <p:sp>
        <p:nvSpPr>
          <p:cNvPr id="5" name="Callout"/>
          <p:cNvSpPr/>
          <p:nvPr/>
        </p:nvSpPr>
        <p:spPr>
          <a:xfrm>
            <a:off x="7823241" y="2994660"/>
            <a:ext cx="3556010" cy="137672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llout mark"/>
          <p:cNvSpPr/>
          <p:nvPr/>
        </p:nvSpPr>
        <p:spPr>
          <a:xfrm>
            <a:off x="7823241" y="2994660"/>
            <a:ext cx="57150" cy="137672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51841" y="2994660"/>
            <a:ext cx="3174980" cy="1376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Above or below the claim does not matter. The decision depends on the distance in standard errors.</a:t>
            </a:r>
            <a:endParaRPr lang="en-US" sz="1800" dirty="0"/>
          </a:p>
        </p:txBody>
      </p:sp>
      <p:pic>
        <p:nvPicPr>
          <p:cNvPr id="8" name="Chart" descr="Normal curve centered on the claim of $30, 95% of samples between $28 and $32. The second store at $31.50 is 1.5 SE, inside the range. The first store at $33 is 3 SE, outsi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80" y="2019270"/>
            <a:ext cx="643893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COMPARING SURVEYS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survey mean, three sample sizes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43100"/>
            <a:ext cx="10566441" cy="31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The claim is $30. Three stores each find a survey mean of $31.50 and an SD of $10.</a:t>
            </a:r>
            <a:endParaRPr lang="en-US" sz="1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407890"/>
          <a:ext cx="10566441" cy="914400"/>
        </p:xfrm>
        <a:graphic>
          <a:graphicData uri="http://schemas.openxmlformats.org/drawingml/2006/table">
            <a:tbl>
              <a:tblPr/>
              <a:tblGrid>
                <a:gridCol w="3275564"/>
                <a:gridCol w="2430292"/>
                <a:gridCol w="2430292"/>
                <a:gridCol w="24302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customers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customers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customers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= s / √n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of $1.50, in 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 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Range: claim ± 2 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 to $34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 to $32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 to $31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$31.50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survey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812810" y="5026640"/>
            <a:ext cx="10566441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llout mark"/>
          <p:cNvSpPr/>
          <p:nvPr/>
        </p:nvSpPr>
        <p:spPr>
          <a:xfrm>
            <a:off x="812810" y="502664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41410" y="502664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larger sample has a smaller SE, so the same $1.50 is more standard errors.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YOUR OWN WORDS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your conclusions carefully</a:t>
            </a:r>
            <a:endParaRPr lang="en-US" sz="4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100"/>
          <a:ext cx="10566441" cy="914400"/>
        </p:xfrm>
        <a:graphic>
          <a:graphicData uri="http://schemas.openxmlformats.org/drawingml/2006/table">
            <a:tbl>
              <a:tblPr/>
              <a:tblGrid>
                <a:gridCol w="5283220"/>
                <a:gridCol w="52832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write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There is less than a 5% chance that the claim is right.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claim were right, fewer than 5% of samples would be this far away.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survey proves that the claim is right.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survey is consistent with the claim. It gives no reason to reject it.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95% of customers spend between $31 and $35.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about 95% confidence, the population mean is between $31 and $35.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812810" y="4564410"/>
            <a:ext cx="10566441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llout mark"/>
          <p:cNvSpPr/>
          <p:nvPr/>
        </p:nvSpPr>
        <p:spPr>
          <a:xfrm>
            <a:off x="812810" y="456441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41410" y="456441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95% interval is the list of all the claims that the survey is consistent with.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IN THE PRACTICE GUIDE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tab "5 Comparing surveys"</a:t>
            </a:r>
            <a:endParaRPr lang="en-US" sz="4000" dirty="0"/>
          </a:p>
        </p:txBody>
      </p:sp>
      <p:sp>
        <p:nvSpPr>
          <p:cNvPr id="4" name="Steps"/>
          <p:cNvSpPr/>
          <p:nvPr/>
        </p:nvSpPr>
        <p:spPr>
          <a:xfrm>
            <a:off x="812810" y="1943100"/>
            <a:ext cx="10566441" cy="1595079"/>
          </a:xfrm>
          <a:prstGeom prst="roundRect">
            <a:avLst>
              <a:gd name="adj" fmla="val 573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120859"/>
            <a:ext cx="10159990" cy="1239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Read the worked example with two stores: survey means of $33 and $31.50.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In the worked example with three sample sizes, choose n = 25, 100 and 400. Press "Take 1,000 new samples" and read the count under the chart.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Answer questions 24 to 28. Questions 24 to 26 use a second survey in the same situation as part 3.</a:t>
            </a:r>
            <a:endParaRPr lang="en-US" sz="1700" dirty="0"/>
          </a:p>
        </p:txBody>
      </p:sp>
      <p:sp>
        <p:nvSpPr>
          <p:cNvPr id="6" name="Callout"/>
          <p:cNvSpPr/>
          <p:nvPr/>
        </p:nvSpPr>
        <p:spPr>
          <a:xfrm>
            <a:off x="812810" y="3792200"/>
            <a:ext cx="10566441" cy="828081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7" name="Callout mark"/>
          <p:cNvSpPr/>
          <p:nvPr/>
        </p:nvSpPr>
        <p:spPr>
          <a:xfrm>
            <a:off x="812810" y="379220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41410" y="3792200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to notice.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The same survey mean can be consistent with the claim for a small sample, and not consistent with it for a large sample.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Midterm ideas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roles of variables, and two ways data can mislead a decision: Simpson's paradox and survivorship bias.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practice guide: tab "6 Midterm ideas", questions 29 to 38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ROLES OF VARIABLES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 five roles a variable can play?</a:t>
            </a:r>
            <a:endParaRPr lang="en-US" sz="4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100"/>
          <a:ext cx="10566441" cy="914400"/>
        </p:xfrm>
        <a:graphic>
          <a:graphicData uri="http://schemas.openxmlformats.org/drawingml/2006/table">
            <a:tbl>
              <a:tblPr/>
              <a:tblGrid>
                <a:gridCol w="2113270"/>
                <a:gridCol w="4860585"/>
                <a:gridCol w="359258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Example: a job-training programme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(input)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work the organisation does: the lever it can pull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mock-interview workshops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Shapes the result, but cannot be changed within the plan's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unemployment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has to happen, often inside a person, between the activity and the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Participants gain interview confidence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Watched instead of the outcome, which arrives too late to steer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share of participants who finish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(output)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organisation exists to produce, wanted for its own sake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better job a year later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812810" y="5638830"/>
            <a:ext cx="10566441" cy="82808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llout mark"/>
          <p:cNvSpPr/>
          <p:nvPr/>
        </p:nvSpPr>
        <p:spPr>
          <a:xfrm>
            <a:off x="812810" y="563883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41410" y="5638830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Act on activities. Watch signals. Work around context. Check the mechanism. Judge by the outcome.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ROLES OF VARIABLES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or outcome? Is a role fixed?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2931201"/>
          </a:xfrm>
          <a:prstGeom prst="roundRect">
            <a:avLst>
              <a:gd name="adj" fmla="val 312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701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you tell a signal from an outcome?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948940"/>
            <a:ext cx="4749759" cy="174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Ask: would I still want this if it led to nothing else? Yes: an outcome. No: a signal.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A signal can be pushed up while the outcome does not improve. A completion rate rises if the course is made easier. Watch a signal, but do not make it a target on its own.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2931201"/>
          </a:xfrm>
          <a:prstGeom prst="roundRect">
            <a:avLst>
              <a:gd name="adj" fmla="val 312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role of a variable fixed?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598450"/>
            <a:ext cx="4749759" cy="174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No. The role depends on the decision and on who makes it.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Regional employment is context for a training programme, which cannot change it. It is the outcome for a regional government, which is judged on it.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SIMPSON'S PARADOX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Simpson's paradox, and why?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2580620"/>
          </a:xfrm>
          <a:prstGeom prst="roundRect">
            <a:avLst>
              <a:gd name="adj" fmla="val 35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it?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98450"/>
            <a:ext cx="4749759" cy="174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 comparison between groups reverses when the data are split by a third variable.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Team A resolves more tickets on time overall. Team B is better on simple tickets and better on complex tickets, but it handles most of the complex ones.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2580620"/>
          </a:xfrm>
          <a:prstGeom prst="roundRect">
            <a:avLst>
              <a:gd name="adj" fmla="val 35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it happen?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598450"/>
            <a:ext cx="4749759" cy="174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An overall rate blends the subgroup rates, weighted by each group's mix of cases.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When the third variable strongly affects the outcome and the groups have different mixes, the overall rate measures the mix, not the group.</a:t>
            </a:r>
            <a:endParaRPr lang="en-US" sz="1800" dirty="0"/>
          </a:p>
        </p:txBody>
      </p:sp>
      <p:sp>
        <p:nvSpPr>
          <p:cNvPr id="10" name="Callout"/>
          <p:cNvSpPr/>
          <p:nvPr/>
        </p:nvSpPr>
        <p:spPr>
          <a:xfrm>
            <a:off x="812810" y="4777740"/>
            <a:ext cx="10566441" cy="82808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Callout mark"/>
          <p:cNvSpPr/>
          <p:nvPr/>
        </p:nvSpPr>
        <p:spPr>
          <a:xfrm>
            <a:off x="812810" y="477774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41410" y="4777740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 a decision.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Before ranking or rewarding on an overall rate, compare like with like: within each level of the third variable.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SURVIVORSHIP BIAS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survivorship bias?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2854940"/>
          </a:xfrm>
          <a:prstGeom prst="roundRect">
            <a:avLst>
              <a:gd name="adj" fmla="val 32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it?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98450"/>
            <a:ext cx="4749759" cy="202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 conclusion drawn only from the cases that made it through a process, when the missing cases differ from those that remain.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Studying only successful companies makes their habits look like causes of success. Failed companies with the same habits are not in the data.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2854940"/>
          </a:xfrm>
          <a:prstGeom prst="roundRect">
            <a:avLst>
              <a:gd name="adj" fmla="val 32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701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does removing cases bias a conclusion?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948940"/>
            <a:ext cx="4749759" cy="1473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When which cases were removed depends on the thing being measured.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A portal that closes the easy contacts biases a comparison of tickets. Closing contacts at random would only make the data smaller.</a:t>
            </a:r>
            <a:endParaRPr lang="en-US" sz="1800" dirty="0"/>
          </a:p>
        </p:txBody>
      </p:sp>
      <p:sp>
        <p:nvSpPr>
          <p:cNvPr id="10" name="Callout"/>
          <p:cNvSpPr/>
          <p:nvPr/>
        </p:nvSpPr>
        <p:spPr>
          <a:xfrm>
            <a:off x="812810" y="5052060"/>
            <a:ext cx="10566441" cy="82808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Callout mark"/>
          <p:cNvSpPr/>
          <p:nvPr/>
        </p:nvSpPr>
        <p:spPr>
          <a:xfrm>
            <a:off x="812810" y="505206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41410" y="5052060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 a decision.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Ask what a case had to go through to be in the data, and who is missing. Find the missing cases, or limit the conclusion to the survivors.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DECISIONS AND ADVICE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to ask before advising</a:t>
            </a:r>
            <a:endParaRPr lang="en-US" sz="4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100"/>
          <a:ext cx="10566441" cy="914400"/>
        </p:xfrm>
        <a:graphic>
          <a:graphicData uri="http://schemas.openxmlformats.org/drawingml/2006/table">
            <a:tbl>
              <a:tblPr/>
              <a:tblGrid>
                <a:gridCol w="2324588"/>
                <a:gridCol w="4437858"/>
                <a:gridCol w="38039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Roles of variables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job does this variable do, and for whose decision?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 on activities, watch signals, work around context, judge by the outcome.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Simpson's paradox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there a third variable that decides who is in each group and also affects the outcome?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within each level of it before ranking, rewarding or choosing.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Survivorship bias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did a case go through to get into this data, and who is missing?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missing cases, or limit the conclusion to the survivors.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IN THE PRACTICE GUIDE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tab "6 Midterm ideas"</a:t>
            </a:r>
            <a:endParaRPr lang="en-US" sz="4000" dirty="0"/>
          </a:p>
        </p:txBody>
      </p:sp>
      <p:sp>
        <p:nvSpPr>
          <p:cNvPr id="4" name="Steps"/>
          <p:cNvSpPr/>
          <p:nvPr/>
        </p:nvSpPr>
        <p:spPr>
          <a:xfrm>
            <a:off x="812810" y="1943100"/>
            <a:ext cx="10566441" cy="1595079"/>
          </a:xfrm>
          <a:prstGeom prst="roundRect">
            <a:avLst>
              <a:gd name="adj" fmla="val 573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120859"/>
            <a:ext cx="10159990" cy="1239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Read questions 29 to 38. Write your own answer on paper before you read the exam answer.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Compare your answer with the exam answer. An answer of that length and content is a full answer.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Press "Detailed explanation" for the reasoning, more examples, and how each idea changes a decision.</a:t>
            </a:r>
            <a:endParaRPr lang="en-US" sz="1700" dirty="0"/>
          </a:p>
        </p:txBody>
      </p:sp>
      <p:sp>
        <p:nvSpPr>
          <p:cNvPr id="6" name="Callout"/>
          <p:cNvSpPr/>
          <p:nvPr/>
        </p:nvSpPr>
        <p:spPr>
          <a:xfrm>
            <a:off x="812810" y="3792200"/>
            <a:ext cx="10566441" cy="828081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7" name="Callout mark"/>
          <p:cNvSpPr/>
          <p:nvPr/>
        </p:nvSpPr>
        <p:spPr>
          <a:xfrm>
            <a:off x="812810" y="379220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41410" y="3792200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to notice.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None of these questions needs a calculation. Marks go to a clear definition, an example, and what the idea means for the decision.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and charts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of each variable decides the summary, and the business question decides the chart.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practice guide: tab "7 Variables and charts", questions 39 to 48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VARIABLES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kinds of variable are there?</a:t>
            </a:r>
            <a:endParaRPr lang="en-US" sz="4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100"/>
          <a:ext cx="10566441" cy="914400"/>
        </p:xfrm>
        <a:graphic>
          <a:graphicData uri="http://schemas.openxmlformats.org/drawingml/2006/table">
            <a:tbl>
              <a:tblPr/>
              <a:tblGrid>
                <a:gridCol w="3169950"/>
                <a:gridCol w="4015222"/>
                <a:gridCol w="33812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Numeric, </a:t>
                      </a:r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value within a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Age: 18, 19.25, 41.5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Numeric, </a:t>
                      </a:r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Countable values, with gaps between them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courses: 4, 5, 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Categorical, </a:t>
                      </a:r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Groups with no natural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Ethnicity; major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Categorical, </a:t>
                      </a:r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Groups with an order, but unequal gaps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level: low, medium, 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812810" y="4485681"/>
            <a:ext cx="10566441" cy="82808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llout mark"/>
          <p:cNvSpPr/>
          <p:nvPr/>
        </p:nvSpPr>
        <p:spPr>
          <a:xfrm>
            <a:off x="812810" y="4485681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41410" y="4485681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variable is a characteristic that can be measured and takes different values.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Does the average mean something?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Yes: numeric. No: categorical.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TYPES OF ANALYSIS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Univariate, bivariate and multivariate</a:t>
            </a:r>
            <a:endParaRPr lang="en-US" sz="4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100"/>
          <a:ext cx="10566441" cy="914400"/>
        </p:xfrm>
        <a:graphic>
          <a:graphicData uri="http://schemas.openxmlformats.org/drawingml/2006/table">
            <a:tbl>
              <a:tblPr/>
              <a:tblGrid>
                <a:gridCol w="1690634"/>
                <a:gridCol w="2641610"/>
                <a:gridCol w="3169950"/>
                <a:gridCol w="306424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Univariate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numeric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Mean, median, mode, 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Histogram, box plot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Univariate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categorical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 or percentages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plot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Bivariate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and numeric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 plot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Bivariate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and categorical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per category (pivot table)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plot of means; box plot per group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Bivariate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 and categorical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 in a cross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 table; grouped bar plot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Multivariate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than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summary for each level of the third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color, shape or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812810" y="5575280"/>
            <a:ext cx="10566441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llout mark"/>
          <p:cNvSpPr/>
          <p:nvPr/>
        </p:nvSpPr>
        <p:spPr>
          <a:xfrm>
            <a:off x="812810" y="557528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41410" y="557528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Trend over time: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a line chart, with time on the x-axis.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CHARTS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a histogram and a box plot show?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3268980"/>
          </a:xfrm>
          <a:prstGeom prst="roundRect">
            <a:avLst>
              <a:gd name="adj" fmla="val 279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98450"/>
            <a:ext cx="4749759" cy="243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Bars count the observations in each range (bin). It shows the shape.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Normal: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symmetric; mean about equal to median.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Right skew: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long tail to the right; mean above median. Income.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Left skew: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long tail to the left; mean below median.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3268980"/>
          </a:xfrm>
          <a:prstGeom prst="roundRect">
            <a:avLst>
              <a:gd name="adj" fmla="val 2797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 plot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598450"/>
            <a:ext cx="4749759" cy="216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Box from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Q1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(25th percentile) to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Q3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(75th percentile).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Line in the box: the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median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(50th percentile).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IQR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= Q3 − Q1, the middle half of the data.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Outlier: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below Q1 − 1.5 × IQR or above Q3 + 1.5 × IQR.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CHARTS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chart for which business question?</a:t>
            </a:r>
            <a:endParaRPr lang="en-US" sz="4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100"/>
          <a:ext cx="10566441" cy="914400"/>
        </p:xfrm>
        <a:graphic>
          <a:graphicData uri="http://schemas.openxmlformats.org/drawingml/2006/table">
            <a:tbl>
              <a:tblPr/>
              <a:tblGrid>
                <a:gridCol w="5811561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question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the distribution of tuition?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 or box plot of tuition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universities are public, and how many private?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plot: height = count of each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tuition spread the same way at public and private?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 colored by type, or a box plot per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average tuition higher at private universities?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plot: height = average tuition per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is #PhD_Faculty related to tuition?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 plot: x = #PhD_Faculty, y = tuition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that relationship the same for both types?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 plot, color = Public_or_Private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812810" y="4889480"/>
            <a:ext cx="10566441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llout mark"/>
          <p:cNvSpPr/>
          <p:nvPr/>
        </p:nvSpPr>
        <p:spPr>
          <a:xfrm>
            <a:off x="812810" y="488948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41410" y="488948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Method.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Count the variables in the question, and name the type of each. That decides the chart.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CHARTS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look at the chart first?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272034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701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only a correlation or a mean?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948940"/>
            <a:ext cx="4749759" cy="1198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One number can hide the shape of the data.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A correlation near zero fits no relationship, and also a pattern that rises and then falls. A mean hides skew and outliers.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272034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you read a scatter plot?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598450"/>
            <a:ext cx="4749759" cy="188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Direction: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up is positive, down is negative, flat is none.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Form: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straight or curved.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Strength: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how tightly the dots follow the pattern.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Unusual points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far from the rest.</a:t>
            </a:r>
            <a:endParaRPr lang="en-US" sz="1800" dirty="0"/>
          </a:p>
        </p:txBody>
      </p:sp>
      <p:sp>
        <p:nvSpPr>
          <p:cNvPr id="10" name="Callout"/>
          <p:cNvSpPr/>
          <p:nvPr/>
        </p:nvSpPr>
        <p:spPr>
          <a:xfrm>
            <a:off x="812810" y="4917460"/>
            <a:ext cx="10566441" cy="82808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Callout mark"/>
          <p:cNvSpPr/>
          <p:nvPr/>
        </p:nvSpPr>
        <p:spPr>
          <a:xfrm>
            <a:off x="812810" y="491746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41410" y="4917460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Draw first, then summarise.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A relationship in a chart does not prove that one variable causes the other.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IN THE PRACTICE GUIDE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tab "7 Variables and charts"</a:t>
            </a:r>
            <a:endParaRPr lang="en-US" sz="4000" dirty="0"/>
          </a:p>
        </p:txBody>
      </p:sp>
      <p:sp>
        <p:nvSpPr>
          <p:cNvPr id="4" name="Steps"/>
          <p:cNvSpPr/>
          <p:nvPr/>
        </p:nvSpPr>
        <p:spPr>
          <a:xfrm>
            <a:off x="812810" y="1943100"/>
            <a:ext cx="10566441" cy="1336030"/>
          </a:xfrm>
          <a:prstGeom prst="roundRect">
            <a:avLst>
              <a:gd name="adj" fmla="val 684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120859"/>
            <a:ext cx="10159990" cy="980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In questions 39 to 41, classify each variable: numeric or categorical first, then its subtype.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Answer questions 42 to 48 on paper, and compare with the exam answers.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In question 47, cover the chart column and name the chart for each business question.</a:t>
            </a:r>
            <a:endParaRPr lang="en-US" sz="1700" dirty="0"/>
          </a:p>
        </p:txBody>
      </p:sp>
      <p:sp>
        <p:nvSpPr>
          <p:cNvPr id="6" name="Callout"/>
          <p:cNvSpPr/>
          <p:nvPr/>
        </p:nvSpPr>
        <p:spPr>
          <a:xfrm>
            <a:off x="812810" y="3533150"/>
            <a:ext cx="10566441" cy="828081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7" name="Callout mark"/>
          <p:cNvSpPr/>
          <p:nvPr/>
        </p:nvSpPr>
        <p:spPr>
          <a:xfrm>
            <a:off x="812810" y="3533150"/>
            <a:ext cx="57150" cy="82808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41410" y="3533150"/>
            <a:ext cx="10185410" cy="82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to notice.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Name the type of each variable first. The types decide the summary, and the business question decides the chart.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5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· NOT ON THE EXAM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587490"/>
            <a:ext cx="9905970" cy="215899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exact percentage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810" y="3937041"/>
            <a:ext cx="9905970" cy="1015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statistics software reports in place of "fewer than 5%".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10" y="5810280"/>
            <a:ext cx="10566441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exam you use 2 standard errors, and you write "fewer than 5%" or "more than 5%".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THE EXAM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test a claim</a:t>
            </a:r>
            <a:endParaRPr lang="en-US" sz="4000" dirty="0"/>
          </a:p>
        </p:txBody>
      </p:sp>
      <p:sp>
        <p:nvSpPr>
          <p:cNvPr id="4" name="Card"/>
          <p:cNvSpPr/>
          <p:nvPr/>
        </p:nvSpPr>
        <p:spPr>
          <a:xfrm>
            <a:off x="812810" y="1943100"/>
            <a:ext cx="5181630" cy="272034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70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from the survey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2598450"/>
            <a:ext cx="4749759" cy="128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Calculate the 95% interval: survey mean ± 2 SE.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Is the claimed μ inside the interval?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Outside the interval: reject the claim.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97620" y="1943100"/>
            <a:ext cx="5181630" cy="272034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3510" y="2158990"/>
            <a:ext cx="4749759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from the claim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13510" y="2598450"/>
            <a:ext cx="4749759" cy="188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Assume that the claim is right.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How many SE is the survey mean from the claimed μ?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How often would a sample mean be that far away, or farther?</a:t>
            </a:r>
            <a:endParaRPr lang="en-US" sz="18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Fewer than 5% of samples: reject the claim.</a:t>
            </a:r>
            <a:endParaRPr lang="en-US" sz="1800" dirty="0"/>
          </a:p>
        </p:txBody>
      </p:sp>
      <p:sp>
        <p:nvSpPr>
          <p:cNvPr id="10" name="Callout"/>
          <p:cNvSpPr/>
          <p:nvPr/>
        </p:nvSpPr>
        <p:spPr>
          <a:xfrm>
            <a:off x="812810" y="4917460"/>
            <a:ext cx="10566441" cy="55376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Callout mark"/>
          <p:cNvSpPr/>
          <p:nvPr/>
        </p:nvSpPr>
        <p:spPr>
          <a:xfrm>
            <a:off x="812810" y="491746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41410" y="491746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Both ways give the same decision. The second way also gives an exact percentage.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THE EXAM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exact percentage, and the decision</a:t>
            </a:r>
            <a:endParaRPr lang="en-US" sz="40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100"/>
          <a:ext cx="10566441" cy="914400"/>
        </p:xfrm>
        <a:graphic>
          <a:graphicData uri="http://schemas.openxmlformats.org/drawingml/2006/table">
            <a:tbl>
              <a:tblPr/>
              <a:tblGrid>
                <a:gridCol w="3592586"/>
                <a:gridCol w="2324588"/>
                <a:gridCol w="2324588"/>
                <a:gridCol w="23245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 $30, SE $1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store, $33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 store, $31.50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 store, $32.17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from the 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 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 that far away, or farther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than 5%?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yes: reject the 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keep the 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yes: reject the 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812810" y="3832890"/>
            <a:ext cx="10566441" cy="1102401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llout mark"/>
          <p:cNvSpPr/>
          <p:nvPr/>
        </p:nvSpPr>
        <p:spPr>
          <a:xfrm>
            <a:off x="812810" y="3832890"/>
            <a:ext cx="57150" cy="110240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41410" y="3832890"/>
            <a:ext cx="10185410" cy="110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Third store: if the claim is right, only 3% of all possible samples are this far from $30. 3% is less than 5%, so the claim is rejected with 97% confidence. The 3% is not the chance that the claim is right.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IN THE PRACTICE GUIDE · OPTIONAL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tab "Not on the exam"</a:t>
            </a:r>
            <a:endParaRPr lang="en-US" sz="4000" dirty="0"/>
          </a:p>
        </p:txBody>
      </p:sp>
      <p:sp>
        <p:nvSpPr>
          <p:cNvPr id="4" name="Steps"/>
          <p:cNvSpPr/>
          <p:nvPr/>
        </p:nvSpPr>
        <p:spPr>
          <a:xfrm>
            <a:off x="812810" y="1943100"/>
            <a:ext cx="10566441" cy="1595079"/>
          </a:xfrm>
          <a:prstGeom prst="roundRect">
            <a:avLst>
              <a:gd name="adj" fmla="val 573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120859"/>
            <a:ext cx="10159990" cy="1239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Under "The same thinking in your own decisions", each heading is a question. Think about your own answer, and then open it.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Under "Technical discussion", open "How often would a sample mean be this far from the claim?"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Choose each of the three stores, and read the percentage under the chart.</a:t>
            </a:r>
            <a:endParaRPr lang="en-US" sz="1700" dirty="0"/>
          </a:p>
        </p:txBody>
      </p:sp>
      <p:sp>
        <p:nvSpPr>
          <p:cNvPr id="6" name="Callout"/>
          <p:cNvSpPr/>
          <p:nvPr/>
        </p:nvSpPr>
        <p:spPr>
          <a:xfrm>
            <a:off x="812810" y="3792200"/>
            <a:ext cx="10566441" cy="553761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7" name="Callout mark"/>
          <p:cNvSpPr/>
          <p:nvPr/>
        </p:nvSpPr>
        <p:spPr>
          <a:xfrm>
            <a:off x="812810" y="3792200"/>
            <a:ext cx="57150" cy="55376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41410" y="3792200"/>
            <a:ext cx="10185410" cy="55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to notice.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This tab is optional reading. Nothing in it is on the exam.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810" y="812810"/>
            <a:ext cx="10566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810" y="1054120"/>
            <a:ext cx="10566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and formulas</a:t>
            </a:r>
            <a:endParaRPr lang="en-US" sz="40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100"/>
          <a:ext cx="10566441" cy="914400"/>
        </p:xfrm>
        <a:graphic>
          <a:graphicData uri="http://schemas.openxmlformats.org/drawingml/2006/table">
            <a:tbl>
              <a:tblPr/>
              <a:tblGrid>
                <a:gridCol w="2324588"/>
                <a:gridCol w="824176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Standard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Mean: s / √n. Proportion: √( p × (1 − p) / n ), with the claimed p in a test and the survey p in an estimate.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 that the claim is right. The range claim ± 2 SE contains 95% of survey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result inside the range: consistent with the claim. Outside the range: not consistent with the claim.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Estimate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result ± 2 SE is the 95% interval.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Connect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claim is inside the interval exactly when the survey result is inside the range.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82550" marB="8255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End-term exam practice">
  <a:themeElements>
    <a:clrScheme name="End-term exam practice">
      <a:dk1>
        <a:srgbClr val="12294B"/>
      </a:dk1>
      <a:lt1>
        <a:srgbClr val="FFFFFF"/>
      </a:lt1>
      <a:dk2>
        <a:srgbClr val="6B6B6B"/>
      </a:dk2>
      <a:lt2>
        <a:srgbClr val="F4F4F4"/>
      </a:lt2>
      <a:accent1>
        <a:srgbClr val="FF6005"/>
      </a:accent1>
      <a:accent2>
        <a:srgbClr val="C54214"/>
      </a:accent2>
      <a:accent3>
        <a:srgbClr val="CBCBCB"/>
      </a:accent3>
      <a:accent4>
        <a:srgbClr val="D3EDF8"/>
      </a:accent4>
      <a:accent5>
        <a:srgbClr val="3A6EA5"/>
      </a:accent5>
      <a:accent6>
        <a:srgbClr val="2C6B3F"/>
      </a:accent6>
      <a:hlink>
        <a:srgbClr val="1F5FA8"/>
      </a:hlink>
      <a:folHlink>
        <a:srgbClr val="6A2C70"/>
      </a:folHlink>
    </a:clrScheme>
    <a:fontScheme name="End-term exam pract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End-term exam practice</dc:title>
  <dc:subject>PptxGenJS Presentation</dc:subject>
  <dc:creator>PptxGenJS</dc:creator>
  <cp:lastModifiedBy>PptxGenJS</cp:lastModifiedBy>
  <cp:revision>1</cp:revision>
  <dcterms:created xsi:type="dcterms:W3CDTF">2026-10-11T07:31:26Z</dcterms:created>
  <dcterms:modified xsi:type="dcterms:W3CDTF">2026-10-11T07:31:26Z</dcterms:modified>
</cp:coreProperties>
</file>